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4" r:id="rId8"/>
    <p:sldId id="262" r:id="rId9"/>
    <p:sldId id="266"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0"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5/7/2019</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B0183-3866-486D-8D91-FECAFFB5ADE8}"/>
              </a:ext>
            </a:extLst>
          </p:cNvPr>
          <p:cNvSpPr>
            <a:spLocks noGrp="1"/>
          </p:cNvSpPr>
          <p:nvPr>
            <p:ph type="ctrTitle"/>
          </p:nvPr>
        </p:nvSpPr>
        <p:spPr/>
        <p:txBody>
          <a:bodyPr/>
          <a:lstStyle/>
          <a:p>
            <a:pPr algn="l"/>
            <a:r>
              <a:rPr lang="en-GB" sz="4400" dirty="0" err="1"/>
              <a:t>Teadmiste</a:t>
            </a:r>
            <a:r>
              <a:rPr lang="en-GB" sz="4400" dirty="0"/>
              <a:t> </a:t>
            </a:r>
            <a:r>
              <a:rPr lang="en-GB" sz="4400" dirty="0" err="1"/>
              <a:t>formaliseerimine</a:t>
            </a:r>
            <a:br>
              <a:rPr lang="en-GB" sz="1400" dirty="0"/>
            </a:br>
            <a:br>
              <a:rPr lang="en-GB" sz="3600" dirty="0"/>
            </a:br>
            <a:r>
              <a:rPr lang="en-GB" sz="2400" dirty="0"/>
              <a:t>Lab 2</a:t>
            </a:r>
            <a:endParaRPr lang="en-150" sz="2400" dirty="0"/>
          </a:p>
        </p:txBody>
      </p:sp>
      <p:sp>
        <p:nvSpPr>
          <p:cNvPr id="3" name="Subtitle 2">
            <a:extLst>
              <a:ext uri="{FF2B5EF4-FFF2-40B4-BE49-F238E27FC236}">
                <a16:creationId xmlns:a16="http://schemas.microsoft.com/office/drawing/2014/main" id="{D723A9A2-BBF3-46C0-B095-1DE6C95226CA}"/>
              </a:ext>
            </a:extLst>
          </p:cNvPr>
          <p:cNvSpPr>
            <a:spLocks noGrp="1"/>
          </p:cNvSpPr>
          <p:nvPr>
            <p:ph type="subTitle" idx="1"/>
          </p:nvPr>
        </p:nvSpPr>
        <p:spPr/>
        <p:txBody>
          <a:bodyPr/>
          <a:lstStyle/>
          <a:p>
            <a:r>
              <a:rPr lang="et-EE" altLang="en-US" dirty="0"/>
              <a:t>Sergei Malõšev 182843IAPM</a:t>
            </a:r>
          </a:p>
          <a:p>
            <a:endParaRPr lang="en-150" dirty="0"/>
          </a:p>
        </p:txBody>
      </p:sp>
    </p:spTree>
    <p:extLst>
      <p:ext uri="{BB962C8B-B14F-4D97-AF65-F5344CB8AC3E}">
        <p14:creationId xmlns:p14="http://schemas.microsoft.com/office/powerpoint/2010/main" val="2377680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1557D-A4F1-48A5-8900-4C58917CB937}"/>
              </a:ext>
            </a:extLst>
          </p:cNvPr>
          <p:cNvSpPr>
            <a:spLocks noGrp="1"/>
          </p:cNvSpPr>
          <p:nvPr>
            <p:ph type="title"/>
          </p:nvPr>
        </p:nvSpPr>
        <p:spPr/>
        <p:txBody>
          <a:bodyPr/>
          <a:lstStyle/>
          <a:p>
            <a:r>
              <a:rPr lang="en-GB" dirty="0"/>
              <a:t>Tools and initial text</a:t>
            </a:r>
            <a:endParaRPr lang="en-150" dirty="0"/>
          </a:p>
        </p:txBody>
      </p:sp>
      <p:sp>
        <p:nvSpPr>
          <p:cNvPr id="3" name="Content Placeholder 2">
            <a:extLst>
              <a:ext uri="{FF2B5EF4-FFF2-40B4-BE49-F238E27FC236}">
                <a16:creationId xmlns:a16="http://schemas.microsoft.com/office/drawing/2014/main" id="{D1EDD513-0A9D-42B3-AF13-A670CB7022B8}"/>
              </a:ext>
            </a:extLst>
          </p:cNvPr>
          <p:cNvSpPr>
            <a:spLocks noGrp="1"/>
          </p:cNvSpPr>
          <p:nvPr>
            <p:ph idx="1"/>
          </p:nvPr>
        </p:nvSpPr>
        <p:spPr/>
        <p:txBody>
          <a:bodyPr/>
          <a:lstStyle/>
          <a:p>
            <a:r>
              <a:rPr lang="et-EE" altLang="en-US" dirty="0"/>
              <a:t>Tools used: Python + </a:t>
            </a:r>
            <a:r>
              <a:rPr lang="et-EE" altLang="en-US" b="1" dirty="0"/>
              <a:t>spacy</a:t>
            </a:r>
            <a:r>
              <a:rPr lang="et-EE" altLang="en-US" dirty="0"/>
              <a:t>, </a:t>
            </a:r>
            <a:r>
              <a:rPr lang="et-EE" altLang="en-US" b="1" dirty="0"/>
              <a:t>textacy</a:t>
            </a:r>
            <a:r>
              <a:rPr lang="et-EE" altLang="en-US" dirty="0"/>
              <a:t>, </a:t>
            </a:r>
            <a:r>
              <a:rPr lang="en-GB" b="1" dirty="0" err="1"/>
              <a:t>neuralcoref</a:t>
            </a:r>
            <a:endParaRPr lang="et-EE" altLang="en-US" dirty="0"/>
          </a:p>
          <a:p>
            <a:r>
              <a:rPr lang="et-EE" altLang="en-US" dirty="0"/>
              <a:t>Text to analyze:</a:t>
            </a:r>
            <a:br>
              <a:rPr lang="et-EE" altLang="en-US" dirty="0"/>
            </a:br>
            <a:br>
              <a:rPr lang="et-EE" altLang="en-US" dirty="0"/>
            </a:br>
            <a:r>
              <a:rPr lang="en-US" dirty="0"/>
              <a:t>John is a father of Andrew. Andrew is a man. Andrew is very smart. Andrew is a father of Bill. Tom is a cat. All cats are cool and nice. Barack Obama was born in Hawaii in 1961. He was president of the United States. London is the capital and most populous city of England. Standing on the River Thames in the south east of the island of Great Britain, London has been a major settlement for two millennia. It was founded by the Romans, who named it </a:t>
            </a:r>
            <a:r>
              <a:rPr lang="en-US" dirty="0" err="1"/>
              <a:t>Londinium</a:t>
            </a:r>
            <a:r>
              <a:rPr lang="en-US" dirty="0"/>
              <a:t>.</a:t>
            </a:r>
            <a:endParaRPr lang="et-EE" altLang="en-US" dirty="0"/>
          </a:p>
          <a:p>
            <a:endParaRPr lang="en-150" dirty="0"/>
          </a:p>
        </p:txBody>
      </p:sp>
    </p:spTree>
    <p:extLst>
      <p:ext uri="{BB962C8B-B14F-4D97-AF65-F5344CB8AC3E}">
        <p14:creationId xmlns:p14="http://schemas.microsoft.com/office/powerpoint/2010/main" val="2771398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A518E-021D-491B-B08D-E0D214565711}"/>
              </a:ext>
            </a:extLst>
          </p:cNvPr>
          <p:cNvSpPr>
            <a:spLocks noGrp="1"/>
          </p:cNvSpPr>
          <p:nvPr>
            <p:ph type="title"/>
          </p:nvPr>
        </p:nvSpPr>
        <p:spPr>
          <a:xfrm>
            <a:off x="677334" y="609600"/>
            <a:ext cx="8596668" cy="1320800"/>
          </a:xfrm>
        </p:spPr>
        <p:txBody>
          <a:bodyPr/>
          <a:lstStyle/>
          <a:p>
            <a:r>
              <a:rPr lang="en-GB" dirty="0"/>
              <a:t>Step 1: Co-reference parsing</a:t>
            </a:r>
            <a:endParaRPr lang="en-150" dirty="0"/>
          </a:p>
        </p:txBody>
      </p:sp>
      <p:sp>
        <p:nvSpPr>
          <p:cNvPr id="3" name="Content Placeholder 2">
            <a:extLst>
              <a:ext uri="{FF2B5EF4-FFF2-40B4-BE49-F238E27FC236}">
                <a16:creationId xmlns:a16="http://schemas.microsoft.com/office/drawing/2014/main" id="{C7F51852-7ABA-4891-92CB-5AF0DD5DDC98}"/>
              </a:ext>
            </a:extLst>
          </p:cNvPr>
          <p:cNvSpPr>
            <a:spLocks noGrp="1"/>
          </p:cNvSpPr>
          <p:nvPr>
            <p:ph idx="1"/>
          </p:nvPr>
        </p:nvSpPr>
        <p:spPr>
          <a:xfrm>
            <a:off x="677334" y="2552816"/>
            <a:ext cx="8596668" cy="1752367"/>
          </a:xfrm>
          <a:solidFill>
            <a:schemeClr val="bg2"/>
          </a:solidFill>
        </p:spPr>
        <p:txBody>
          <a:bodyPr>
            <a:normAutofit/>
          </a:bodyPr>
          <a:lstStyle/>
          <a:p>
            <a:r>
              <a:rPr lang="en-US" dirty="0"/>
              <a:t>…Barack Obama was born in Hawaii in 1961. </a:t>
            </a:r>
            <a:r>
              <a:rPr lang="en-US" dirty="0">
                <a:solidFill>
                  <a:srgbClr val="FF0000"/>
                </a:solidFill>
              </a:rPr>
              <a:t>He</a:t>
            </a:r>
            <a:r>
              <a:rPr lang="en-US" dirty="0"/>
              <a:t> was president of the United States…</a:t>
            </a:r>
          </a:p>
          <a:p>
            <a:r>
              <a:rPr lang="en-GB" dirty="0">
                <a:solidFill>
                  <a:srgbClr val="FF0000"/>
                </a:solidFill>
              </a:rPr>
              <a:t>He =&gt; Barack Obama</a:t>
            </a:r>
          </a:p>
          <a:p>
            <a:r>
              <a:rPr lang="en-GB" dirty="0">
                <a:solidFill>
                  <a:srgbClr val="FF0000"/>
                </a:solidFill>
              </a:rPr>
              <a:t>=&gt; </a:t>
            </a:r>
            <a:r>
              <a:rPr lang="en-US" dirty="0"/>
              <a:t>…Barack Obama was born in Hawaii in 1961. </a:t>
            </a:r>
            <a:r>
              <a:rPr lang="en-GB" dirty="0">
                <a:solidFill>
                  <a:srgbClr val="FF0000"/>
                </a:solidFill>
              </a:rPr>
              <a:t>Barack Obama</a:t>
            </a:r>
            <a:r>
              <a:rPr lang="en-US" dirty="0"/>
              <a:t> was president of the United States…</a:t>
            </a:r>
          </a:p>
          <a:p>
            <a:endParaRPr lang="en-GB" dirty="0">
              <a:solidFill>
                <a:srgbClr val="FF0000"/>
              </a:solidFill>
            </a:endParaRPr>
          </a:p>
          <a:p>
            <a:endParaRPr lang="en-150" dirty="0"/>
          </a:p>
        </p:txBody>
      </p:sp>
      <p:sp>
        <p:nvSpPr>
          <p:cNvPr id="5" name="Content Placeholder 2">
            <a:extLst>
              <a:ext uri="{FF2B5EF4-FFF2-40B4-BE49-F238E27FC236}">
                <a16:creationId xmlns:a16="http://schemas.microsoft.com/office/drawing/2014/main" id="{17588393-40F3-498A-A0F2-FC03A70D462C}"/>
              </a:ext>
            </a:extLst>
          </p:cNvPr>
          <p:cNvSpPr txBox="1">
            <a:spLocks/>
          </p:cNvSpPr>
          <p:nvPr/>
        </p:nvSpPr>
        <p:spPr>
          <a:xfrm>
            <a:off x="677334" y="4496033"/>
            <a:ext cx="8596668" cy="1752367"/>
          </a:xfrm>
          <a:prstGeom prst="rect">
            <a:avLst/>
          </a:prstGeom>
          <a:solidFill>
            <a:schemeClr val="bg2"/>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…London has been a major settlement for two millennia. </a:t>
            </a:r>
            <a:r>
              <a:rPr lang="en-US" dirty="0">
                <a:solidFill>
                  <a:srgbClr val="FF0000"/>
                </a:solidFill>
              </a:rPr>
              <a:t>It</a:t>
            </a:r>
            <a:r>
              <a:rPr lang="en-US" dirty="0"/>
              <a:t> was founded by the Romans…</a:t>
            </a:r>
          </a:p>
          <a:p>
            <a:r>
              <a:rPr lang="en-GB" dirty="0">
                <a:solidFill>
                  <a:srgbClr val="FF0000"/>
                </a:solidFill>
              </a:rPr>
              <a:t>It =&gt; London</a:t>
            </a:r>
          </a:p>
          <a:p>
            <a:r>
              <a:rPr lang="en-GB" dirty="0">
                <a:solidFill>
                  <a:srgbClr val="FF0000"/>
                </a:solidFill>
              </a:rPr>
              <a:t>=&gt; </a:t>
            </a:r>
            <a:r>
              <a:rPr lang="en-US" dirty="0"/>
              <a:t>…London has been a major settlement for two millennia. </a:t>
            </a:r>
            <a:r>
              <a:rPr lang="en-US" dirty="0">
                <a:solidFill>
                  <a:srgbClr val="FF0000"/>
                </a:solidFill>
              </a:rPr>
              <a:t>London</a:t>
            </a:r>
            <a:r>
              <a:rPr lang="en-US" dirty="0"/>
              <a:t> was founded by the Romans…</a:t>
            </a:r>
          </a:p>
          <a:p>
            <a:endParaRPr lang="en-GB" dirty="0">
              <a:solidFill>
                <a:srgbClr val="FF0000"/>
              </a:solidFill>
            </a:endParaRPr>
          </a:p>
          <a:p>
            <a:endParaRPr lang="en-150" dirty="0"/>
          </a:p>
        </p:txBody>
      </p:sp>
      <p:sp>
        <p:nvSpPr>
          <p:cNvPr id="6" name="Content Placeholder 2">
            <a:extLst>
              <a:ext uri="{FF2B5EF4-FFF2-40B4-BE49-F238E27FC236}">
                <a16:creationId xmlns:a16="http://schemas.microsoft.com/office/drawing/2014/main" id="{AEA74211-D208-4894-BBDD-D98612845FA6}"/>
              </a:ext>
            </a:extLst>
          </p:cNvPr>
          <p:cNvSpPr txBox="1">
            <a:spLocks/>
          </p:cNvSpPr>
          <p:nvPr/>
        </p:nvSpPr>
        <p:spPr>
          <a:xfrm>
            <a:off x="677334" y="1583094"/>
            <a:ext cx="8596668" cy="626188"/>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Split doc into tokens and make co-reference parsing using </a:t>
            </a:r>
            <a:r>
              <a:rPr lang="en-US" b="1" dirty="0"/>
              <a:t>“</a:t>
            </a:r>
            <a:r>
              <a:rPr lang="en-US" b="1" dirty="0" err="1"/>
              <a:t>neuralcoref</a:t>
            </a:r>
            <a:r>
              <a:rPr lang="en-US" b="1" dirty="0"/>
              <a:t>” </a:t>
            </a:r>
            <a:r>
              <a:rPr lang="en-US" dirty="0"/>
              <a:t>package</a:t>
            </a:r>
            <a:endParaRPr lang="en-150" dirty="0"/>
          </a:p>
        </p:txBody>
      </p:sp>
    </p:spTree>
    <p:extLst>
      <p:ext uri="{BB962C8B-B14F-4D97-AF65-F5344CB8AC3E}">
        <p14:creationId xmlns:p14="http://schemas.microsoft.com/office/powerpoint/2010/main" val="1481090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F21E9-9F19-48E8-AF92-22B4B924089D}"/>
              </a:ext>
            </a:extLst>
          </p:cNvPr>
          <p:cNvSpPr>
            <a:spLocks noGrp="1"/>
          </p:cNvSpPr>
          <p:nvPr>
            <p:ph type="title"/>
          </p:nvPr>
        </p:nvSpPr>
        <p:spPr/>
        <p:txBody>
          <a:bodyPr/>
          <a:lstStyle/>
          <a:p>
            <a:r>
              <a:rPr lang="en-US" dirty="0"/>
              <a:t>Step 2: Extract knowledge</a:t>
            </a:r>
            <a:endParaRPr lang="en-150" dirty="0"/>
          </a:p>
        </p:txBody>
      </p:sp>
      <p:sp>
        <p:nvSpPr>
          <p:cNvPr id="3" name="Content Placeholder 2">
            <a:extLst>
              <a:ext uri="{FF2B5EF4-FFF2-40B4-BE49-F238E27FC236}">
                <a16:creationId xmlns:a16="http://schemas.microsoft.com/office/drawing/2014/main" id="{79AC6F18-562A-4CBC-8D4B-15918359F026}"/>
              </a:ext>
            </a:extLst>
          </p:cNvPr>
          <p:cNvSpPr>
            <a:spLocks noGrp="1"/>
          </p:cNvSpPr>
          <p:nvPr>
            <p:ph idx="1"/>
          </p:nvPr>
        </p:nvSpPr>
        <p:spPr>
          <a:xfrm>
            <a:off x="677334" y="1930400"/>
            <a:ext cx="8596668" cy="3880773"/>
          </a:xfrm>
        </p:spPr>
        <p:txBody>
          <a:bodyPr/>
          <a:lstStyle/>
          <a:p>
            <a:r>
              <a:rPr lang="en-US" dirty="0"/>
              <a:t>Parse document into sentences</a:t>
            </a:r>
          </a:p>
          <a:p>
            <a:r>
              <a:rPr lang="en-US" dirty="0"/>
              <a:t>Parse sentence into tokens</a:t>
            </a:r>
          </a:p>
          <a:p>
            <a:r>
              <a:rPr lang="en-US" dirty="0"/>
              <a:t>Extract knowledge, SVO’s (subject-verb-object) and rules, experimenting  different methods:</a:t>
            </a:r>
          </a:p>
          <a:p>
            <a:pPr lvl="1"/>
            <a:r>
              <a:rPr lang="en-US" dirty="0"/>
              <a:t>Using only </a:t>
            </a:r>
            <a:r>
              <a:rPr lang="en-US" b="1" dirty="0"/>
              <a:t>spacy</a:t>
            </a:r>
            <a:r>
              <a:rPr lang="en-US" dirty="0"/>
              <a:t> linguistic features</a:t>
            </a:r>
          </a:p>
          <a:p>
            <a:pPr lvl="1"/>
            <a:r>
              <a:rPr lang="en-US" dirty="0"/>
              <a:t>Using </a:t>
            </a:r>
            <a:r>
              <a:rPr lang="en-US" b="1" dirty="0" err="1"/>
              <a:t>textacy</a:t>
            </a:r>
            <a:r>
              <a:rPr lang="en-US" dirty="0"/>
              <a:t> SVO triplet helper</a:t>
            </a:r>
          </a:p>
          <a:p>
            <a:pPr lvl="1"/>
            <a:r>
              <a:rPr lang="en-US" dirty="0"/>
              <a:t>Using </a:t>
            </a:r>
            <a:r>
              <a:rPr lang="en-US" b="1" dirty="0" err="1"/>
              <a:t>textacy</a:t>
            </a:r>
            <a:r>
              <a:rPr lang="en-US" dirty="0"/>
              <a:t> </a:t>
            </a:r>
            <a:r>
              <a:rPr lang="en-US" dirty="0" err="1"/>
              <a:t>semistructured</a:t>
            </a:r>
            <a:r>
              <a:rPr lang="en-US" dirty="0"/>
              <a:t> statements helper vs Entities</a:t>
            </a:r>
          </a:p>
          <a:p>
            <a:r>
              <a:rPr lang="et-EE" dirty="0"/>
              <a:t>Lemmatize, remove predicates and s</a:t>
            </a:r>
            <a:r>
              <a:rPr lang="en-US" dirty="0"/>
              <a:t>tore knowledge into </a:t>
            </a:r>
            <a:r>
              <a:rPr lang="en-US" b="1" dirty="0"/>
              <a:t>Set list </a:t>
            </a:r>
            <a:r>
              <a:rPr lang="en-US" dirty="0"/>
              <a:t>(duplicates dropped)</a:t>
            </a:r>
          </a:p>
          <a:p>
            <a:pPr marL="457200" lvl="1" indent="0">
              <a:buNone/>
            </a:pPr>
            <a:br>
              <a:rPr lang="en-US" dirty="0"/>
            </a:br>
            <a:endParaRPr lang="en-US" dirty="0"/>
          </a:p>
          <a:p>
            <a:pPr lvl="1"/>
            <a:endParaRPr lang="en-US" dirty="0"/>
          </a:p>
          <a:p>
            <a:endParaRPr lang="en-150" dirty="0"/>
          </a:p>
        </p:txBody>
      </p:sp>
    </p:spTree>
    <p:extLst>
      <p:ext uri="{BB962C8B-B14F-4D97-AF65-F5344CB8AC3E}">
        <p14:creationId xmlns:p14="http://schemas.microsoft.com/office/powerpoint/2010/main" val="598303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3040-A6CA-4291-A6C7-0A7E5D3273E5}"/>
              </a:ext>
            </a:extLst>
          </p:cNvPr>
          <p:cNvSpPr>
            <a:spLocks noGrp="1"/>
          </p:cNvSpPr>
          <p:nvPr>
            <p:ph type="title"/>
          </p:nvPr>
        </p:nvSpPr>
        <p:spPr/>
        <p:txBody>
          <a:bodyPr/>
          <a:lstStyle/>
          <a:p>
            <a:r>
              <a:rPr lang="en-US" dirty="0"/>
              <a:t>Step 3: Generate knowledge </a:t>
            </a:r>
            <a:r>
              <a:rPr lang="et-EE" dirty="0"/>
              <a:t>DB</a:t>
            </a:r>
            <a:r>
              <a:rPr lang="en-US" dirty="0"/>
              <a:t> </a:t>
            </a:r>
            <a:r>
              <a:rPr lang="et-EE" dirty="0"/>
              <a:t>in</a:t>
            </a:r>
            <a:r>
              <a:rPr lang="en-US" dirty="0"/>
              <a:t> Prolog format</a:t>
            </a:r>
            <a:endParaRPr lang="en-150" dirty="0"/>
          </a:p>
        </p:txBody>
      </p:sp>
      <p:graphicFrame>
        <p:nvGraphicFramePr>
          <p:cNvPr id="5" name="Content Placeholder 4">
            <a:extLst>
              <a:ext uri="{FF2B5EF4-FFF2-40B4-BE49-F238E27FC236}">
                <a16:creationId xmlns:a16="http://schemas.microsoft.com/office/drawing/2014/main" id="{80B8DA23-EBD4-4821-81C3-8BE402ABE60B}"/>
              </a:ext>
            </a:extLst>
          </p:cNvPr>
          <p:cNvGraphicFramePr>
            <a:graphicFrameLocks noGrp="1"/>
          </p:cNvGraphicFramePr>
          <p:nvPr>
            <p:ph idx="1"/>
            <p:extLst>
              <p:ext uri="{D42A27DB-BD31-4B8C-83A1-F6EECF244321}">
                <p14:modId xmlns:p14="http://schemas.microsoft.com/office/powerpoint/2010/main" val="3874061862"/>
              </p:ext>
            </p:extLst>
          </p:nvPr>
        </p:nvGraphicFramePr>
        <p:xfrm>
          <a:off x="677690" y="1734459"/>
          <a:ext cx="8596312" cy="5201940"/>
        </p:xfrm>
        <a:graphic>
          <a:graphicData uri="http://schemas.openxmlformats.org/drawingml/2006/table">
            <a:tbl>
              <a:tblPr firstRow="1" bandRow="1">
                <a:tableStyleId>{5C22544A-7EE6-4342-B048-85BDC9FD1C3A}</a:tableStyleId>
              </a:tblPr>
              <a:tblGrid>
                <a:gridCol w="2821117">
                  <a:extLst>
                    <a:ext uri="{9D8B030D-6E8A-4147-A177-3AD203B41FA5}">
                      <a16:colId xmlns:a16="http://schemas.microsoft.com/office/drawing/2014/main" val="3200123935"/>
                    </a:ext>
                  </a:extLst>
                </a:gridCol>
                <a:gridCol w="5775195">
                  <a:extLst>
                    <a:ext uri="{9D8B030D-6E8A-4147-A177-3AD203B41FA5}">
                      <a16:colId xmlns:a16="http://schemas.microsoft.com/office/drawing/2014/main" val="4173167566"/>
                    </a:ext>
                  </a:extLst>
                </a:gridCol>
              </a:tblGrid>
              <a:tr h="342186">
                <a:tc>
                  <a:txBody>
                    <a:bodyPr/>
                    <a:lstStyle/>
                    <a:p>
                      <a:r>
                        <a:rPr lang="et-EE" b="1" dirty="0">
                          <a:solidFill>
                            <a:schemeClr val="tx1"/>
                          </a:solidFill>
                        </a:rPr>
                        <a:t>Facts:</a:t>
                      </a:r>
                      <a:endParaRPr lang="en-GB" b="1" dirty="0">
                        <a:solidFill>
                          <a:schemeClr val="tx1"/>
                        </a:solidFill>
                      </a:endParaRPr>
                    </a:p>
                  </a:txBody>
                  <a:tcPr>
                    <a:noFill/>
                  </a:tcPr>
                </a:tc>
                <a:tc>
                  <a:txBody>
                    <a:bodyPr/>
                    <a:lstStyle/>
                    <a:p>
                      <a:endParaRPr lang="en-150" b="0" dirty="0"/>
                    </a:p>
                  </a:txBody>
                  <a:tcPr>
                    <a:noFill/>
                  </a:tcPr>
                </a:tc>
                <a:extLst>
                  <a:ext uri="{0D108BD9-81ED-4DB2-BD59-A6C34878D82A}">
                    <a16:rowId xmlns:a16="http://schemas.microsoft.com/office/drawing/2014/main" val="316707277"/>
                  </a:ext>
                </a:extLst>
              </a:tr>
              <a:tr h="2836834">
                <a:tc>
                  <a:txBody>
                    <a:bodyPr/>
                    <a:lstStyle/>
                    <a:p>
                      <a:r>
                        <a:rPr lang="en-GB" b="0" dirty="0">
                          <a:solidFill>
                            <a:schemeClr val="tx1"/>
                          </a:solidFill>
                        </a:rPr>
                        <a:t>father(john)</a:t>
                      </a:r>
                    </a:p>
                    <a:p>
                      <a:r>
                        <a:rPr lang="en-GB" b="0" dirty="0">
                          <a:solidFill>
                            <a:schemeClr val="tx1"/>
                          </a:solidFill>
                        </a:rPr>
                        <a:t>father(</a:t>
                      </a:r>
                      <a:r>
                        <a:rPr lang="en-GB" b="0" dirty="0" err="1">
                          <a:solidFill>
                            <a:schemeClr val="tx1"/>
                          </a:solidFill>
                        </a:rPr>
                        <a:t>john,andrew</a:t>
                      </a:r>
                      <a:r>
                        <a:rPr lang="en-GB" b="0" dirty="0">
                          <a:solidFill>
                            <a:schemeClr val="tx1"/>
                          </a:solidFill>
                        </a:rPr>
                        <a:t>)</a:t>
                      </a:r>
                    </a:p>
                    <a:p>
                      <a:r>
                        <a:rPr lang="en-GB" b="0" dirty="0">
                          <a:solidFill>
                            <a:schemeClr val="tx1"/>
                          </a:solidFill>
                        </a:rPr>
                        <a:t>man(</a:t>
                      </a:r>
                      <a:r>
                        <a:rPr lang="en-GB" b="0" dirty="0" err="1">
                          <a:solidFill>
                            <a:schemeClr val="tx1"/>
                          </a:solidFill>
                        </a:rPr>
                        <a:t>andrew</a:t>
                      </a:r>
                      <a:r>
                        <a:rPr lang="en-GB" b="0" dirty="0">
                          <a:solidFill>
                            <a:schemeClr val="tx1"/>
                          </a:solidFill>
                        </a:rPr>
                        <a:t>)</a:t>
                      </a:r>
                    </a:p>
                    <a:p>
                      <a:r>
                        <a:rPr lang="en-GB" b="0" dirty="0">
                          <a:solidFill>
                            <a:schemeClr val="tx1"/>
                          </a:solidFill>
                        </a:rPr>
                        <a:t>smart(</a:t>
                      </a:r>
                      <a:r>
                        <a:rPr lang="en-GB" b="0" dirty="0" err="1">
                          <a:solidFill>
                            <a:schemeClr val="tx1"/>
                          </a:solidFill>
                        </a:rPr>
                        <a:t>andrew</a:t>
                      </a:r>
                      <a:r>
                        <a:rPr lang="en-GB" b="0" dirty="0">
                          <a:solidFill>
                            <a:schemeClr val="tx1"/>
                          </a:solidFill>
                        </a:rPr>
                        <a:t>)</a:t>
                      </a:r>
                    </a:p>
                    <a:p>
                      <a:r>
                        <a:rPr lang="en-GB" b="0" dirty="0">
                          <a:solidFill>
                            <a:schemeClr val="tx1"/>
                          </a:solidFill>
                        </a:rPr>
                        <a:t>father(</a:t>
                      </a:r>
                      <a:r>
                        <a:rPr lang="en-GB" b="0" dirty="0" err="1">
                          <a:solidFill>
                            <a:schemeClr val="tx1"/>
                          </a:solidFill>
                        </a:rPr>
                        <a:t>andrew</a:t>
                      </a:r>
                      <a:r>
                        <a:rPr lang="en-GB" b="0" dirty="0">
                          <a:solidFill>
                            <a:schemeClr val="tx1"/>
                          </a:solidFill>
                        </a:rPr>
                        <a:t>)</a:t>
                      </a:r>
                    </a:p>
                    <a:p>
                      <a:r>
                        <a:rPr lang="en-GB" b="0" dirty="0">
                          <a:solidFill>
                            <a:schemeClr val="tx1"/>
                          </a:solidFill>
                        </a:rPr>
                        <a:t>father(</a:t>
                      </a:r>
                      <a:r>
                        <a:rPr lang="en-GB" b="0" dirty="0" err="1">
                          <a:solidFill>
                            <a:schemeClr val="tx1"/>
                          </a:solidFill>
                        </a:rPr>
                        <a:t>andrew,bill</a:t>
                      </a:r>
                      <a:r>
                        <a:rPr lang="en-GB" b="0" dirty="0">
                          <a:solidFill>
                            <a:schemeClr val="tx1"/>
                          </a:solidFill>
                        </a:rPr>
                        <a:t>)</a:t>
                      </a:r>
                    </a:p>
                    <a:p>
                      <a:r>
                        <a:rPr lang="en-GB" b="0" dirty="0">
                          <a:solidFill>
                            <a:schemeClr val="tx1"/>
                          </a:solidFill>
                        </a:rPr>
                        <a:t>cat(tom)</a:t>
                      </a:r>
                    </a:p>
                    <a:p>
                      <a:r>
                        <a:rPr lang="en-GB" b="0" dirty="0">
                          <a:solidFill>
                            <a:schemeClr val="tx1"/>
                          </a:solidFill>
                        </a:rPr>
                        <a:t>cool(cat)</a:t>
                      </a:r>
                    </a:p>
                    <a:p>
                      <a:r>
                        <a:rPr lang="en-GB" b="0" dirty="0">
                          <a:solidFill>
                            <a:schemeClr val="tx1"/>
                          </a:solidFill>
                        </a:rPr>
                        <a:t>nice(cat)</a:t>
                      </a:r>
                    </a:p>
                  </a:txBody>
                  <a:tcPr>
                    <a:noFill/>
                  </a:tcPr>
                </a:tc>
                <a:tc>
                  <a:txBody>
                    <a:bodyPr/>
                    <a:lstStyle/>
                    <a:p>
                      <a:r>
                        <a:rPr lang="en-GB" b="0" dirty="0">
                          <a:solidFill>
                            <a:schemeClr val="tx1"/>
                          </a:solidFill>
                        </a:rPr>
                        <a:t>born(</a:t>
                      </a:r>
                      <a:r>
                        <a:rPr lang="en-GB" b="0" dirty="0" err="1">
                          <a:solidFill>
                            <a:schemeClr val="tx1"/>
                          </a:solidFill>
                        </a:rPr>
                        <a:t>barack_obama,hawaii</a:t>
                      </a:r>
                      <a:r>
                        <a:rPr lang="en-GB" b="0" dirty="0">
                          <a:solidFill>
                            <a:schemeClr val="tx1"/>
                          </a:solidFill>
                        </a:rPr>
                        <a:t>)</a:t>
                      </a:r>
                    </a:p>
                    <a:p>
                      <a:r>
                        <a:rPr lang="en-GB" b="0" dirty="0">
                          <a:solidFill>
                            <a:schemeClr val="tx1"/>
                          </a:solidFill>
                        </a:rPr>
                        <a:t>born(barack_obama,1961)</a:t>
                      </a:r>
                    </a:p>
                    <a:p>
                      <a:r>
                        <a:rPr lang="en-GB" b="0" dirty="0">
                          <a:solidFill>
                            <a:schemeClr val="tx1"/>
                          </a:solidFill>
                        </a:rPr>
                        <a:t>president(</a:t>
                      </a:r>
                      <a:r>
                        <a:rPr lang="en-GB" b="0" dirty="0" err="1">
                          <a:solidFill>
                            <a:schemeClr val="tx1"/>
                          </a:solidFill>
                        </a:rPr>
                        <a:t>barack_obama</a:t>
                      </a:r>
                      <a:r>
                        <a:rPr lang="en-GB" b="0" dirty="0">
                          <a:solidFill>
                            <a:schemeClr val="tx1"/>
                          </a:solidFill>
                        </a:rPr>
                        <a:t>)</a:t>
                      </a:r>
                    </a:p>
                    <a:p>
                      <a:r>
                        <a:rPr lang="en-GB" b="0" dirty="0">
                          <a:solidFill>
                            <a:schemeClr val="tx1"/>
                          </a:solidFill>
                        </a:rPr>
                        <a:t>president(</a:t>
                      </a:r>
                      <a:r>
                        <a:rPr lang="en-GB" b="0" dirty="0" err="1">
                          <a:solidFill>
                            <a:schemeClr val="tx1"/>
                          </a:solidFill>
                        </a:rPr>
                        <a:t>obama</a:t>
                      </a:r>
                      <a:r>
                        <a:rPr lang="en-GB" b="0" dirty="0">
                          <a:solidFill>
                            <a:schemeClr val="tx1"/>
                          </a:solidFill>
                        </a:rPr>
                        <a:t>)</a:t>
                      </a:r>
                    </a:p>
                    <a:p>
                      <a:r>
                        <a:rPr lang="en-GB" b="0" dirty="0">
                          <a:solidFill>
                            <a:schemeClr val="tx1"/>
                          </a:solidFill>
                        </a:rPr>
                        <a:t>president(</a:t>
                      </a:r>
                      <a:r>
                        <a:rPr lang="en-GB" b="0" dirty="0" err="1">
                          <a:solidFill>
                            <a:schemeClr val="tx1"/>
                          </a:solidFill>
                        </a:rPr>
                        <a:t>obama,states</a:t>
                      </a:r>
                      <a:r>
                        <a:rPr lang="en-GB" b="0" dirty="0">
                          <a:solidFill>
                            <a:schemeClr val="tx1"/>
                          </a:solidFill>
                        </a:rPr>
                        <a:t>)</a:t>
                      </a:r>
                    </a:p>
                    <a:p>
                      <a:r>
                        <a:rPr lang="en-GB" b="0" dirty="0">
                          <a:solidFill>
                            <a:schemeClr val="tx1"/>
                          </a:solidFill>
                        </a:rPr>
                        <a:t>capital(</a:t>
                      </a:r>
                      <a:r>
                        <a:rPr lang="en-GB" b="0" dirty="0" err="1">
                          <a:solidFill>
                            <a:schemeClr val="tx1"/>
                          </a:solidFill>
                        </a:rPr>
                        <a:t>london</a:t>
                      </a:r>
                      <a:r>
                        <a:rPr lang="en-GB" b="0" dirty="0">
                          <a:solidFill>
                            <a:schemeClr val="tx1"/>
                          </a:solidFill>
                        </a:rPr>
                        <a:t>)</a:t>
                      </a:r>
                    </a:p>
                    <a:p>
                      <a:r>
                        <a:rPr lang="en-GB" b="0" dirty="0">
                          <a:solidFill>
                            <a:schemeClr val="tx1"/>
                          </a:solidFill>
                        </a:rPr>
                        <a:t>city(</a:t>
                      </a:r>
                      <a:r>
                        <a:rPr lang="en-GB" b="0" dirty="0" err="1">
                          <a:solidFill>
                            <a:schemeClr val="tx1"/>
                          </a:solidFill>
                        </a:rPr>
                        <a:t>london</a:t>
                      </a:r>
                      <a:r>
                        <a:rPr lang="en-GB" b="0" dirty="0">
                          <a:solidFill>
                            <a:schemeClr val="tx1"/>
                          </a:solidFill>
                        </a:rPr>
                        <a:t>)</a:t>
                      </a:r>
                    </a:p>
                    <a:p>
                      <a:r>
                        <a:rPr lang="en-GB" b="0" dirty="0">
                          <a:solidFill>
                            <a:schemeClr val="tx1"/>
                          </a:solidFill>
                        </a:rPr>
                        <a:t>capital(</a:t>
                      </a:r>
                      <a:r>
                        <a:rPr lang="en-GB" b="0" dirty="0" err="1">
                          <a:solidFill>
                            <a:schemeClr val="tx1"/>
                          </a:solidFill>
                        </a:rPr>
                        <a:t>london,england</a:t>
                      </a:r>
                      <a:r>
                        <a:rPr lang="en-GB" b="0" dirty="0">
                          <a:solidFill>
                            <a:schemeClr val="tx1"/>
                          </a:solidFill>
                        </a:rPr>
                        <a:t>)</a:t>
                      </a:r>
                    </a:p>
                    <a:p>
                      <a:r>
                        <a:rPr lang="en-GB" b="0" dirty="0">
                          <a:solidFill>
                            <a:schemeClr val="tx1"/>
                          </a:solidFill>
                        </a:rPr>
                        <a:t>settlement(</a:t>
                      </a:r>
                      <a:r>
                        <a:rPr lang="en-GB" b="0" dirty="0" err="1">
                          <a:solidFill>
                            <a:schemeClr val="tx1"/>
                          </a:solidFill>
                        </a:rPr>
                        <a:t>london</a:t>
                      </a:r>
                      <a:r>
                        <a:rPr lang="en-GB" b="0" dirty="0">
                          <a:solidFill>
                            <a:schemeClr val="tx1"/>
                          </a:solidFill>
                        </a:rPr>
                        <a:t>)</a:t>
                      </a:r>
                    </a:p>
                    <a:p>
                      <a:r>
                        <a:rPr lang="en-GB" b="0" dirty="0" err="1">
                          <a:solidFill>
                            <a:schemeClr val="tx1"/>
                          </a:solidFill>
                        </a:rPr>
                        <a:t>major_settlement</a:t>
                      </a:r>
                      <a:r>
                        <a:rPr lang="en-GB" b="0" dirty="0">
                          <a:solidFill>
                            <a:schemeClr val="tx1"/>
                          </a:solidFill>
                        </a:rPr>
                        <a:t>(</a:t>
                      </a:r>
                      <a:r>
                        <a:rPr lang="en-GB" b="0" dirty="0" err="1">
                          <a:solidFill>
                            <a:schemeClr val="tx1"/>
                          </a:solidFill>
                        </a:rPr>
                        <a:t>london</a:t>
                      </a:r>
                      <a:r>
                        <a:rPr lang="en-GB" b="0" dirty="0">
                          <a:solidFill>
                            <a:schemeClr val="tx1"/>
                          </a:solidFill>
                        </a:rPr>
                        <a:t>)</a:t>
                      </a:r>
                    </a:p>
                    <a:p>
                      <a:r>
                        <a:rPr lang="en-GB" b="0" dirty="0" err="1">
                          <a:solidFill>
                            <a:schemeClr val="tx1"/>
                          </a:solidFill>
                        </a:rPr>
                        <a:t>major_settlement</a:t>
                      </a:r>
                      <a:r>
                        <a:rPr lang="en-GB" b="0" dirty="0">
                          <a:solidFill>
                            <a:schemeClr val="tx1"/>
                          </a:solidFill>
                        </a:rPr>
                        <a:t>(</a:t>
                      </a:r>
                      <a:r>
                        <a:rPr lang="en-GB" b="0" dirty="0" err="1">
                          <a:solidFill>
                            <a:schemeClr val="tx1"/>
                          </a:solidFill>
                        </a:rPr>
                        <a:t>london,two_millennia</a:t>
                      </a:r>
                      <a:r>
                        <a:rPr lang="en-GB" b="0" dirty="0">
                          <a:solidFill>
                            <a:schemeClr val="tx1"/>
                          </a:solidFill>
                        </a:rPr>
                        <a:t>)</a:t>
                      </a:r>
                      <a:endParaRPr lang="et-EE" b="0" dirty="0">
                        <a:solidFill>
                          <a:schemeClr val="tx1"/>
                        </a:solidFill>
                      </a:endParaRPr>
                    </a:p>
                    <a:p>
                      <a:r>
                        <a:rPr lang="en-US" b="0" dirty="0"/>
                        <a:t>founded(</a:t>
                      </a:r>
                      <a:r>
                        <a:rPr lang="en-US" b="0" dirty="0" err="1"/>
                        <a:t>london,romans</a:t>
                      </a:r>
                      <a:r>
                        <a:rPr lang="en-US" b="0" dirty="0"/>
                        <a:t>)</a:t>
                      </a:r>
                      <a:endParaRPr lang="en-150" b="0" dirty="0"/>
                    </a:p>
                  </a:txBody>
                  <a:tcPr>
                    <a:noFill/>
                  </a:tcPr>
                </a:tc>
                <a:extLst>
                  <a:ext uri="{0D108BD9-81ED-4DB2-BD59-A6C34878D82A}">
                    <a16:rowId xmlns:a16="http://schemas.microsoft.com/office/drawing/2014/main" val="257083361"/>
                  </a:ext>
                </a:extLst>
              </a:tr>
              <a:tr h="1452900">
                <a:tc>
                  <a:txBody>
                    <a:bodyPr/>
                    <a:lstStyle/>
                    <a:p>
                      <a:r>
                        <a:rPr lang="et-EE" b="1" dirty="0">
                          <a:solidFill>
                            <a:schemeClr val="tx1"/>
                          </a:solidFill>
                        </a:rPr>
                        <a:t>Rules:</a:t>
                      </a:r>
                    </a:p>
                    <a:p>
                      <a:endParaRPr lang="et-EE" b="1" dirty="0">
                        <a:solidFill>
                          <a:schemeClr val="tx1"/>
                        </a:solidFill>
                      </a:endParaRPr>
                    </a:p>
                    <a:p>
                      <a:r>
                        <a:rPr lang="en-GB" b="0" dirty="0">
                          <a:solidFill>
                            <a:schemeClr val="tx1"/>
                          </a:solidFill>
                        </a:rPr>
                        <a:t>cool(X):-cat(X)</a:t>
                      </a:r>
                    </a:p>
                    <a:p>
                      <a:r>
                        <a:rPr lang="en-GB" b="0" dirty="0">
                          <a:solidFill>
                            <a:schemeClr val="tx1"/>
                          </a:solidFill>
                        </a:rPr>
                        <a:t>nice(X):-cat(X)</a:t>
                      </a:r>
                    </a:p>
                  </a:txBody>
                  <a:tcPr>
                    <a:noFill/>
                  </a:tcPr>
                </a:tc>
                <a:tc>
                  <a:txBody>
                    <a:bodyPr/>
                    <a:lstStyle/>
                    <a:p>
                      <a:endParaRPr lang="en-150" b="0" dirty="0"/>
                    </a:p>
                  </a:txBody>
                  <a:tcPr>
                    <a:noFill/>
                  </a:tcPr>
                </a:tc>
                <a:extLst>
                  <a:ext uri="{0D108BD9-81ED-4DB2-BD59-A6C34878D82A}">
                    <a16:rowId xmlns:a16="http://schemas.microsoft.com/office/drawing/2014/main" val="3239321531"/>
                  </a:ext>
                </a:extLst>
              </a:tr>
            </a:tbl>
          </a:graphicData>
        </a:graphic>
      </p:graphicFrame>
    </p:spTree>
    <p:extLst>
      <p:ext uri="{BB962C8B-B14F-4D97-AF65-F5344CB8AC3E}">
        <p14:creationId xmlns:p14="http://schemas.microsoft.com/office/powerpoint/2010/main" val="1050967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6F46-AF70-47EF-B031-BA913336EC97}"/>
              </a:ext>
            </a:extLst>
          </p:cNvPr>
          <p:cNvSpPr>
            <a:spLocks noGrp="1"/>
          </p:cNvSpPr>
          <p:nvPr>
            <p:ph type="title"/>
          </p:nvPr>
        </p:nvSpPr>
        <p:spPr/>
        <p:txBody>
          <a:bodyPr/>
          <a:lstStyle/>
          <a:p>
            <a:r>
              <a:rPr lang="et-EE" dirty="0"/>
              <a:t>Step 4: Parse question and query DB</a:t>
            </a:r>
            <a:br>
              <a:rPr lang="en-US" dirty="0"/>
            </a:br>
            <a:r>
              <a:rPr lang="en-US" sz="2000" dirty="0"/>
              <a:t>Example 1 - Simple</a:t>
            </a:r>
            <a:endParaRPr lang="en-150" sz="2000" dirty="0"/>
          </a:p>
        </p:txBody>
      </p:sp>
      <p:graphicFrame>
        <p:nvGraphicFramePr>
          <p:cNvPr id="8" name="Content Placeholder 7">
            <a:extLst>
              <a:ext uri="{FF2B5EF4-FFF2-40B4-BE49-F238E27FC236}">
                <a16:creationId xmlns:a16="http://schemas.microsoft.com/office/drawing/2014/main" id="{7E6BD517-F831-45FA-8FEB-BB5300598569}"/>
              </a:ext>
            </a:extLst>
          </p:cNvPr>
          <p:cNvGraphicFramePr>
            <a:graphicFrameLocks noGrp="1"/>
          </p:cNvGraphicFramePr>
          <p:nvPr>
            <p:ph idx="1"/>
            <p:extLst>
              <p:ext uri="{D42A27DB-BD31-4B8C-83A1-F6EECF244321}">
                <p14:modId xmlns:p14="http://schemas.microsoft.com/office/powerpoint/2010/main" val="2846119541"/>
              </p:ext>
            </p:extLst>
          </p:nvPr>
        </p:nvGraphicFramePr>
        <p:xfrm>
          <a:off x="677334" y="1806024"/>
          <a:ext cx="8596312" cy="4297680"/>
        </p:xfrm>
        <a:graphic>
          <a:graphicData uri="http://schemas.openxmlformats.org/drawingml/2006/table">
            <a:tbl>
              <a:tblPr firstRow="1" bandRow="1">
                <a:tableStyleId>{3B4B98B0-60AC-42C2-AFA5-B58CD77FA1E5}</a:tableStyleId>
              </a:tblPr>
              <a:tblGrid>
                <a:gridCol w="1934708">
                  <a:extLst>
                    <a:ext uri="{9D8B030D-6E8A-4147-A177-3AD203B41FA5}">
                      <a16:colId xmlns:a16="http://schemas.microsoft.com/office/drawing/2014/main" val="2713798710"/>
                    </a:ext>
                  </a:extLst>
                </a:gridCol>
                <a:gridCol w="6661604">
                  <a:extLst>
                    <a:ext uri="{9D8B030D-6E8A-4147-A177-3AD203B41FA5}">
                      <a16:colId xmlns:a16="http://schemas.microsoft.com/office/drawing/2014/main" val="3780685036"/>
                    </a:ext>
                  </a:extLst>
                </a:gridCol>
              </a:tblGrid>
              <a:tr h="370840">
                <a:tc>
                  <a:txBody>
                    <a:bodyPr/>
                    <a:lstStyle/>
                    <a:p>
                      <a:r>
                        <a:rPr lang="en-US" b="0" dirty="0"/>
                        <a:t>Context:</a:t>
                      </a:r>
                    </a:p>
                    <a:p>
                      <a:endParaRPr lang="en-US" dirty="0"/>
                    </a:p>
                    <a:p>
                      <a:r>
                        <a:rPr lang="en-US" b="0" dirty="0"/>
                        <a:t>Parsed facts:</a:t>
                      </a:r>
                      <a:endParaRPr lang="en-150" b="0" dirty="0"/>
                    </a:p>
                  </a:txBody>
                  <a:tcPr>
                    <a:solidFill>
                      <a:schemeClr val="accent2">
                        <a:lumMod val="40000"/>
                        <a:lumOff val="60000"/>
                      </a:schemeClr>
                    </a:solidFill>
                  </a:tcPr>
                </a:tc>
                <a:tc>
                  <a:txBody>
                    <a:bodyPr/>
                    <a:lstStyle/>
                    <a:p>
                      <a:r>
                        <a:rPr lang="en-US" sz="1800" b="0" kern="1200" dirty="0">
                          <a:solidFill>
                            <a:schemeClr val="tx1"/>
                          </a:solidFill>
                          <a:latin typeface="+mn-lt"/>
                          <a:ea typeface="+mn-ea"/>
                          <a:cs typeface="+mn-cs"/>
                        </a:rPr>
                        <a:t>John is a father of Andrew.</a:t>
                      </a:r>
                    </a:p>
                    <a:p>
                      <a:endParaRPr lang="en-US" sz="1800" b="0" kern="1200" dirty="0">
                        <a:solidFill>
                          <a:schemeClr val="tx1"/>
                        </a:solidFill>
                        <a:latin typeface="+mn-lt"/>
                        <a:ea typeface="+mn-ea"/>
                        <a:cs typeface="+mn-cs"/>
                      </a:endParaRPr>
                    </a:p>
                    <a:p>
                      <a:r>
                        <a:rPr lang="en-US" b="0" dirty="0">
                          <a:solidFill>
                            <a:srgbClr val="FF0000"/>
                          </a:solidFill>
                        </a:rPr>
                        <a:t>father(john)</a:t>
                      </a:r>
                    </a:p>
                    <a:p>
                      <a:r>
                        <a:rPr lang="en-US" b="0" dirty="0">
                          <a:solidFill>
                            <a:srgbClr val="FF0000"/>
                          </a:solidFill>
                        </a:rPr>
                        <a:t>father(</a:t>
                      </a:r>
                      <a:r>
                        <a:rPr lang="en-US" b="0" dirty="0" err="1">
                          <a:solidFill>
                            <a:srgbClr val="FF0000"/>
                          </a:solidFill>
                        </a:rPr>
                        <a:t>john,andrew</a:t>
                      </a:r>
                      <a:r>
                        <a:rPr lang="en-US" b="0" dirty="0">
                          <a:solidFill>
                            <a:srgbClr val="FF0000"/>
                          </a:solidFill>
                        </a:rPr>
                        <a:t>)</a:t>
                      </a:r>
                      <a:endParaRPr lang="en-150" b="0" dirty="0">
                        <a:solidFill>
                          <a:srgbClr val="FF0000"/>
                        </a:solidFill>
                      </a:endParaRPr>
                    </a:p>
                  </a:txBody>
                  <a:tcPr>
                    <a:solidFill>
                      <a:schemeClr val="accent2">
                        <a:lumMod val="40000"/>
                        <a:lumOff val="60000"/>
                      </a:schemeClr>
                    </a:solidFill>
                  </a:tcPr>
                </a:tc>
                <a:extLst>
                  <a:ext uri="{0D108BD9-81ED-4DB2-BD59-A6C34878D82A}">
                    <a16:rowId xmlns:a16="http://schemas.microsoft.com/office/drawing/2014/main" val="2899325159"/>
                  </a:ext>
                </a:extLst>
              </a:tr>
              <a:tr h="370840">
                <a:tc>
                  <a:txBody>
                    <a:bodyPr/>
                    <a:lstStyle/>
                    <a:p>
                      <a:r>
                        <a:rPr lang="en-US" dirty="0"/>
                        <a:t>Input question 1:</a:t>
                      </a:r>
                    </a:p>
                    <a:p>
                      <a:endParaRPr lang="en-US" dirty="0"/>
                    </a:p>
                    <a:p>
                      <a:r>
                        <a:rPr lang="en-US" dirty="0"/>
                        <a:t>Parsed question:</a:t>
                      </a:r>
                      <a:endParaRPr lang="en-150" dirty="0"/>
                    </a:p>
                  </a:txBody>
                  <a:tcPr/>
                </a:tc>
                <a:tc>
                  <a:txBody>
                    <a:bodyPr/>
                    <a:lstStyle/>
                    <a:p>
                      <a:r>
                        <a:rPr lang="en-US" dirty="0"/>
                        <a:t>Who is the father of Andrew?</a:t>
                      </a:r>
                    </a:p>
                    <a:p>
                      <a:endParaRPr lang="en-US" dirty="0"/>
                    </a:p>
                    <a:p>
                      <a:r>
                        <a:rPr lang="en-GB" dirty="0">
                          <a:solidFill>
                            <a:srgbClr val="FF0000"/>
                          </a:solidFill>
                        </a:rPr>
                        <a:t>father(</a:t>
                      </a:r>
                      <a:r>
                        <a:rPr lang="en-GB" dirty="0" err="1">
                          <a:solidFill>
                            <a:srgbClr val="FF0000"/>
                          </a:solidFill>
                        </a:rPr>
                        <a:t>X,andrew</a:t>
                      </a:r>
                      <a:r>
                        <a:rPr lang="en-GB" dirty="0">
                          <a:solidFill>
                            <a:srgbClr val="FF0000"/>
                          </a:solidFill>
                        </a:rPr>
                        <a:t>)</a:t>
                      </a:r>
                      <a:endParaRPr lang="en-150" dirty="0">
                        <a:solidFill>
                          <a:srgbClr val="FF0000"/>
                        </a:solidFill>
                      </a:endParaRPr>
                    </a:p>
                  </a:txBody>
                  <a:tcPr/>
                </a:tc>
                <a:extLst>
                  <a:ext uri="{0D108BD9-81ED-4DB2-BD59-A6C34878D82A}">
                    <a16:rowId xmlns:a16="http://schemas.microsoft.com/office/drawing/2014/main" val="798591526"/>
                  </a:ext>
                </a:extLst>
              </a:tr>
              <a:tr h="370840">
                <a:tc>
                  <a:txBody>
                    <a:bodyPr/>
                    <a:lstStyle/>
                    <a:p>
                      <a:r>
                        <a:rPr lang="en-US" dirty="0"/>
                        <a:t>Response:</a:t>
                      </a:r>
                      <a:endParaRPr lang="en-150" dirty="0"/>
                    </a:p>
                  </a:txBody>
                  <a:tcPr/>
                </a:tc>
                <a:tc>
                  <a:txBody>
                    <a:bodyPr/>
                    <a:lstStyle/>
                    <a:p>
                      <a:r>
                        <a:rPr lang="en-US" dirty="0">
                          <a:solidFill>
                            <a:srgbClr val="FF0000"/>
                          </a:solidFill>
                        </a:rPr>
                        <a:t>john</a:t>
                      </a:r>
                    </a:p>
                    <a:p>
                      <a:endParaRPr lang="en-150" dirty="0"/>
                    </a:p>
                  </a:txBody>
                  <a:tcPr/>
                </a:tc>
                <a:extLst>
                  <a:ext uri="{0D108BD9-81ED-4DB2-BD59-A6C34878D82A}">
                    <a16:rowId xmlns:a16="http://schemas.microsoft.com/office/drawing/2014/main" val="129273737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Input question 2:</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Parsed question:</a:t>
                      </a:r>
                      <a:endParaRPr lang="en-15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Is John is father?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r>
                        <a:rPr lang="en-GB" dirty="0">
                          <a:solidFill>
                            <a:srgbClr val="FF0000"/>
                          </a:solidFill>
                        </a:rPr>
                        <a:t>father(john)</a:t>
                      </a:r>
                      <a:endParaRPr lang="en-150" dirty="0">
                        <a:solidFill>
                          <a:srgbClr val="FF0000"/>
                        </a:solidFill>
                      </a:endParaRPr>
                    </a:p>
                  </a:txBody>
                  <a:tcPr/>
                </a:tc>
                <a:extLst>
                  <a:ext uri="{0D108BD9-81ED-4DB2-BD59-A6C34878D82A}">
                    <a16:rowId xmlns:a16="http://schemas.microsoft.com/office/drawing/2014/main" val="2535639622"/>
                  </a:ext>
                </a:extLst>
              </a:tr>
              <a:tr h="370840">
                <a:tc>
                  <a:txBody>
                    <a:bodyPr/>
                    <a:lstStyle/>
                    <a:p>
                      <a:r>
                        <a:rPr lang="en-US" dirty="0"/>
                        <a:t>Response:</a:t>
                      </a:r>
                    </a:p>
                    <a:p>
                      <a:endParaRPr lang="en-150" dirty="0"/>
                    </a:p>
                  </a:txBody>
                  <a:tcPr/>
                </a:tc>
                <a:tc>
                  <a:txBody>
                    <a:bodyPr/>
                    <a:lstStyle/>
                    <a:p>
                      <a:r>
                        <a:rPr lang="en-US" dirty="0">
                          <a:solidFill>
                            <a:srgbClr val="FF0000"/>
                          </a:solidFill>
                        </a:rPr>
                        <a:t>Yes</a:t>
                      </a:r>
                      <a:endParaRPr lang="en-150" dirty="0">
                        <a:solidFill>
                          <a:srgbClr val="FF0000"/>
                        </a:solidFill>
                      </a:endParaRPr>
                    </a:p>
                  </a:txBody>
                  <a:tcPr/>
                </a:tc>
                <a:extLst>
                  <a:ext uri="{0D108BD9-81ED-4DB2-BD59-A6C34878D82A}">
                    <a16:rowId xmlns:a16="http://schemas.microsoft.com/office/drawing/2014/main" val="2632117991"/>
                  </a:ext>
                </a:extLst>
              </a:tr>
            </a:tbl>
          </a:graphicData>
        </a:graphic>
      </p:graphicFrame>
    </p:spTree>
    <p:extLst>
      <p:ext uri="{BB962C8B-B14F-4D97-AF65-F5344CB8AC3E}">
        <p14:creationId xmlns:p14="http://schemas.microsoft.com/office/powerpoint/2010/main" val="1716042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6F46-AF70-47EF-B031-BA913336EC97}"/>
              </a:ext>
            </a:extLst>
          </p:cNvPr>
          <p:cNvSpPr>
            <a:spLocks noGrp="1"/>
          </p:cNvSpPr>
          <p:nvPr>
            <p:ph type="title"/>
          </p:nvPr>
        </p:nvSpPr>
        <p:spPr>
          <a:xfrm>
            <a:off x="677334" y="609600"/>
            <a:ext cx="8596668" cy="1320800"/>
          </a:xfrm>
        </p:spPr>
        <p:txBody>
          <a:bodyPr/>
          <a:lstStyle/>
          <a:p>
            <a:r>
              <a:rPr lang="et-EE" dirty="0"/>
              <a:t>Step 4: Parse question and query DB</a:t>
            </a:r>
            <a:r>
              <a:rPr lang="en-US" dirty="0"/>
              <a:t> </a:t>
            </a:r>
            <a:r>
              <a:rPr lang="en-US" sz="2000" dirty="0"/>
              <a:t>Example 2 – Complex</a:t>
            </a:r>
            <a:endParaRPr lang="en-150" sz="2000" dirty="0"/>
          </a:p>
        </p:txBody>
      </p:sp>
      <p:graphicFrame>
        <p:nvGraphicFramePr>
          <p:cNvPr id="4" name="Content Placeholder 7">
            <a:extLst>
              <a:ext uri="{FF2B5EF4-FFF2-40B4-BE49-F238E27FC236}">
                <a16:creationId xmlns:a16="http://schemas.microsoft.com/office/drawing/2014/main" id="{5744E173-BDD5-4391-AE29-2AAB462FF1D8}"/>
              </a:ext>
            </a:extLst>
          </p:cNvPr>
          <p:cNvGraphicFramePr>
            <a:graphicFrameLocks/>
          </p:cNvGraphicFramePr>
          <p:nvPr>
            <p:extLst>
              <p:ext uri="{D42A27DB-BD31-4B8C-83A1-F6EECF244321}">
                <p14:modId xmlns:p14="http://schemas.microsoft.com/office/powerpoint/2010/main" val="1969328778"/>
              </p:ext>
            </p:extLst>
          </p:nvPr>
        </p:nvGraphicFramePr>
        <p:xfrm>
          <a:off x="677334" y="1563429"/>
          <a:ext cx="8596312" cy="5394960"/>
        </p:xfrm>
        <a:graphic>
          <a:graphicData uri="http://schemas.openxmlformats.org/drawingml/2006/table">
            <a:tbl>
              <a:tblPr firstRow="1" bandRow="1">
                <a:tableStyleId>{3B4B98B0-60AC-42C2-AFA5-B58CD77FA1E5}</a:tableStyleId>
              </a:tblPr>
              <a:tblGrid>
                <a:gridCol w="1934708">
                  <a:extLst>
                    <a:ext uri="{9D8B030D-6E8A-4147-A177-3AD203B41FA5}">
                      <a16:colId xmlns:a16="http://schemas.microsoft.com/office/drawing/2014/main" val="2713798710"/>
                    </a:ext>
                  </a:extLst>
                </a:gridCol>
                <a:gridCol w="6661604">
                  <a:extLst>
                    <a:ext uri="{9D8B030D-6E8A-4147-A177-3AD203B41FA5}">
                      <a16:colId xmlns:a16="http://schemas.microsoft.com/office/drawing/2014/main" val="3780685036"/>
                    </a:ext>
                  </a:extLst>
                </a:gridCol>
              </a:tblGrid>
              <a:tr h="370840">
                <a:tc>
                  <a:txBody>
                    <a:bodyPr/>
                    <a:lstStyle/>
                    <a:p>
                      <a:r>
                        <a:rPr lang="en-US" b="0" dirty="0"/>
                        <a:t>Context:</a:t>
                      </a:r>
                    </a:p>
                    <a:p>
                      <a:endParaRPr lang="en-US" dirty="0"/>
                    </a:p>
                    <a:p>
                      <a:endParaRPr lang="en-US" dirty="0"/>
                    </a:p>
                    <a:p>
                      <a:endParaRPr lang="en-US" dirty="0"/>
                    </a:p>
                    <a:p>
                      <a:r>
                        <a:rPr lang="en-US" b="0" dirty="0"/>
                        <a:t>Parsed facts:</a:t>
                      </a:r>
                    </a:p>
                    <a:p>
                      <a:endParaRPr lang="en-US" b="0" dirty="0"/>
                    </a:p>
                  </a:txBody>
                  <a:tcPr>
                    <a:solidFill>
                      <a:schemeClr val="accent2">
                        <a:lumMod val="40000"/>
                        <a:lumOff val="60000"/>
                      </a:schemeClr>
                    </a:solidFill>
                  </a:tcPr>
                </a:tc>
                <a:tc>
                  <a:txBody>
                    <a:bodyPr/>
                    <a:lstStyle/>
                    <a:p>
                      <a:r>
                        <a:rPr lang="en-US" sz="1800" b="0" kern="1200" dirty="0">
                          <a:solidFill>
                            <a:schemeClr val="tx1"/>
                          </a:solidFill>
                          <a:latin typeface="+mn-lt"/>
                          <a:ea typeface="+mn-ea"/>
                          <a:cs typeface="+mn-cs"/>
                        </a:rPr>
                        <a:t>Standing on the River Thames in the south east of the island of Great Britain, London has been a major settlement for two millennia.</a:t>
                      </a:r>
                    </a:p>
                    <a:p>
                      <a:endParaRPr lang="en-US" sz="1800" b="0" kern="1200" dirty="0">
                        <a:solidFill>
                          <a:schemeClr val="tx1"/>
                        </a:solidFill>
                        <a:latin typeface="+mn-lt"/>
                        <a:ea typeface="+mn-ea"/>
                        <a:cs typeface="+mn-cs"/>
                      </a:endParaRPr>
                    </a:p>
                    <a:p>
                      <a:r>
                        <a:rPr lang="en-US" b="0" dirty="0">
                          <a:solidFill>
                            <a:srgbClr val="FF0000"/>
                          </a:solidFill>
                        </a:rPr>
                        <a:t>settlement(</a:t>
                      </a:r>
                      <a:r>
                        <a:rPr lang="en-US" b="0" dirty="0" err="1">
                          <a:solidFill>
                            <a:srgbClr val="FF0000"/>
                          </a:solidFill>
                        </a:rPr>
                        <a:t>london</a:t>
                      </a:r>
                      <a:r>
                        <a:rPr lang="en-US" b="0" dirty="0">
                          <a:solidFill>
                            <a:srgbClr val="FF0000"/>
                          </a:solidFill>
                        </a:rPr>
                        <a:t>)</a:t>
                      </a:r>
                    </a:p>
                    <a:p>
                      <a:r>
                        <a:rPr lang="en-US" b="0" dirty="0">
                          <a:solidFill>
                            <a:srgbClr val="FF0000"/>
                          </a:solidFill>
                        </a:rPr>
                        <a:t>settlement(</a:t>
                      </a:r>
                      <a:r>
                        <a:rPr lang="en-US" b="0" dirty="0" err="1">
                          <a:solidFill>
                            <a:srgbClr val="FF0000"/>
                          </a:solidFill>
                        </a:rPr>
                        <a:t>london,millennia</a:t>
                      </a:r>
                      <a:r>
                        <a:rPr lang="en-US" b="0" dirty="0">
                          <a:solidFill>
                            <a:srgbClr val="FF0000"/>
                          </a:solidFill>
                        </a:rPr>
                        <a:t>)</a:t>
                      </a:r>
                    </a:p>
                    <a:p>
                      <a:r>
                        <a:rPr lang="en-US" b="0" dirty="0">
                          <a:solidFill>
                            <a:srgbClr val="FF0000"/>
                          </a:solidFill>
                        </a:rPr>
                        <a:t>standing(</a:t>
                      </a:r>
                      <a:r>
                        <a:rPr lang="en-US" b="0" dirty="0" err="1">
                          <a:solidFill>
                            <a:srgbClr val="FF0000"/>
                          </a:solidFill>
                        </a:rPr>
                        <a:t>london,thames</a:t>
                      </a:r>
                      <a:r>
                        <a:rPr lang="en-US" b="0" dirty="0">
                          <a:solidFill>
                            <a:srgbClr val="FF0000"/>
                          </a:solidFill>
                        </a:rPr>
                        <a:t>)</a:t>
                      </a:r>
                    </a:p>
                    <a:p>
                      <a:r>
                        <a:rPr lang="en-US" b="0" dirty="0">
                          <a:solidFill>
                            <a:srgbClr val="FF0000"/>
                          </a:solidFill>
                        </a:rPr>
                        <a:t>standing(</a:t>
                      </a:r>
                      <a:r>
                        <a:rPr lang="en-US" b="0" dirty="0" err="1">
                          <a:solidFill>
                            <a:srgbClr val="FF0000"/>
                          </a:solidFill>
                        </a:rPr>
                        <a:t>london,east</a:t>
                      </a:r>
                      <a:r>
                        <a:rPr lang="en-US" b="0" dirty="0">
                          <a:solidFill>
                            <a:srgbClr val="FF0000"/>
                          </a:solidFill>
                        </a:rPr>
                        <a:t>)</a:t>
                      </a:r>
                    </a:p>
                  </a:txBody>
                  <a:tcPr>
                    <a:solidFill>
                      <a:schemeClr val="accent2">
                        <a:lumMod val="40000"/>
                        <a:lumOff val="60000"/>
                      </a:schemeClr>
                    </a:solidFill>
                  </a:tcPr>
                </a:tc>
                <a:extLst>
                  <a:ext uri="{0D108BD9-81ED-4DB2-BD59-A6C34878D82A}">
                    <a16:rowId xmlns:a16="http://schemas.microsoft.com/office/drawing/2014/main" val="2899325159"/>
                  </a:ext>
                </a:extLst>
              </a:tr>
              <a:tr h="370840">
                <a:tc>
                  <a:txBody>
                    <a:bodyPr/>
                    <a:lstStyle/>
                    <a:p>
                      <a:r>
                        <a:rPr lang="en-US" dirty="0"/>
                        <a:t>Input question:</a:t>
                      </a:r>
                    </a:p>
                    <a:p>
                      <a:endParaRPr lang="en-US" dirty="0"/>
                    </a:p>
                    <a:p>
                      <a:r>
                        <a:rPr lang="en-US" dirty="0"/>
                        <a:t>Parsed question:</a:t>
                      </a:r>
                      <a:endParaRPr lang="en-150" dirty="0"/>
                    </a:p>
                  </a:txBody>
                  <a:tcPr/>
                </a:tc>
                <a:tc>
                  <a:txBody>
                    <a:bodyPr/>
                    <a:lstStyle/>
                    <a:p>
                      <a:r>
                        <a:rPr lang="en-US" dirty="0"/>
                        <a:t>What was a major settlement for two millennia?</a:t>
                      </a:r>
                    </a:p>
                    <a:p>
                      <a:endParaRPr lang="en-US" dirty="0"/>
                    </a:p>
                    <a:p>
                      <a:r>
                        <a:rPr lang="en-GB" dirty="0">
                          <a:solidFill>
                            <a:srgbClr val="FF0000"/>
                          </a:solidFill>
                        </a:rPr>
                        <a:t>settlement(</a:t>
                      </a:r>
                      <a:r>
                        <a:rPr lang="en-GB" dirty="0" err="1">
                          <a:solidFill>
                            <a:srgbClr val="FF0000"/>
                          </a:solidFill>
                        </a:rPr>
                        <a:t>X,millennia</a:t>
                      </a:r>
                      <a:r>
                        <a:rPr lang="en-GB" dirty="0">
                          <a:solidFill>
                            <a:srgbClr val="FF0000"/>
                          </a:solidFill>
                        </a:rPr>
                        <a:t>)</a:t>
                      </a:r>
                      <a:endParaRPr lang="en-150" dirty="0">
                        <a:solidFill>
                          <a:srgbClr val="FF0000"/>
                        </a:solidFill>
                      </a:endParaRPr>
                    </a:p>
                  </a:txBody>
                  <a:tcPr/>
                </a:tc>
                <a:extLst>
                  <a:ext uri="{0D108BD9-81ED-4DB2-BD59-A6C34878D82A}">
                    <a16:rowId xmlns:a16="http://schemas.microsoft.com/office/drawing/2014/main" val="798591526"/>
                  </a:ext>
                </a:extLst>
              </a:tr>
              <a:tr h="370840">
                <a:tc>
                  <a:txBody>
                    <a:bodyPr/>
                    <a:lstStyle/>
                    <a:p>
                      <a:r>
                        <a:rPr lang="en-US" dirty="0"/>
                        <a:t>Response:</a:t>
                      </a:r>
                      <a:endParaRPr lang="en-150" dirty="0"/>
                    </a:p>
                  </a:txBody>
                  <a:tcPr/>
                </a:tc>
                <a:tc>
                  <a:txBody>
                    <a:bodyPr/>
                    <a:lstStyle/>
                    <a:p>
                      <a:r>
                        <a:rPr lang="en-US" dirty="0" err="1">
                          <a:solidFill>
                            <a:srgbClr val="FF0000"/>
                          </a:solidFill>
                        </a:rPr>
                        <a:t>london</a:t>
                      </a:r>
                      <a:endParaRPr lang="en-US" dirty="0">
                        <a:solidFill>
                          <a:srgbClr val="FF0000"/>
                        </a:solidFill>
                      </a:endParaRPr>
                    </a:p>
                    <a:p>
                      <a:endParaRPr lang="en-150" dirty="0"/>
                    </a:p>
                  </a:txBody>
                  <a:tcPr/>
                </a:tc>
                <a:extLst>
                  <a:ext uri="{0D108BD9-81ED-4DB2-BD59-A6C34878D82A}">
                    <a16:rowId xmlns:a16="http://schemas.microsoft.com/office/drawing/2014/main" val="129273737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Input question 2:</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Parsed question:</a:t>
                      </a:r>
                      <a:endParaRPr lang="en-150" dirty="0"/>
                    </a:p>
                  </a:txBody>
                  <a:tcPr/>
                </a:tc>
                <a:tc>
                  <a:txBody>
                    <a:bodyPr/>
                    <a:lstStyle/>
                    <a:p>
                      <a:r>
                        <a:rPr lang="en-US" dirty="0"/>
                        <a:t>London is standing on the River Thames?</a:t>
                      </a:r>
                    </a:p>
                    <a:p>
                      <a:endParaRPr lang="en-GB" dirty="0">
                        <a:solidFill>
                          <a:srgbClr val="FF0000"/>
                        </a:solidFill>
                      </a:endParaRPr>
                    </a:p>
                    <a:p>
                      <a:r>
                        <a:rPr lang="en-GB" dirty="0">
                          <a:solidFill>
                            <a:srgbClr val="FF0000"/>
                          </a:solidFill>
                        </a:rPr>
                        <a:t>standing(</a:t>
                      </a:r>
                      <a:r>
                        <a:rPr lang="en-GB" dirty="0" err="1">
                          <a:solidFill>
                            <a:srgbClr val="FF0000"/>
                          </a:solidFill>
                        </a:rPr>
                        <a:t>london,thames</a:t>
                      </a:r>
                      <a:r>
                        <a:rPr lang="en-GB" dirty="0">
                          <a:solidFill>
                            <a:srgbClr val="FF0000"/>
                          </a:solidFill>
                        </a:rPr>
                        <a:t>)</a:t>
                      </a:r>
                      <a:endParaRPr lang="en-150" dirty="0">
                        <a:solidFill>
                          <a:srgbClr val="FF0000"/>
                        </a:solidFill>
                      </a:endParaRPr>
                    </a:p>
                  </a:txBody>
                  <a:tcPr/>
                </a:tc>
                <a:extLst>
                  <a:ext uri="{0D108BD9-81ED-4DB2-BD59-A6C34878D82A}">
                    <a16:rowId xmlns:a16="http://schemas.microsoft.com/office/drawing/2014/main" val="2535639622"/>
                  </a:ext>
                </a:extLst>
              </a:tr>
              <a:tr h="370840">
                <a:tc>
                  <a:txBody>
                    <a:bodyPr/>
                    <a:lstStyle/>
                    <a:p>
                      <a:r>
                        <a:rPr lang="en-US" dirty="0"/>
                        <a:t>Response:</a:t>
                      </a:r>
                    </a:p>
                    <a:p>
                      <a:endParaRPr lang="en-150" dirty="0"/>
                    </a:p>
                  </a:txBody>
                  <a:tcPr/>
                </a:tc>
                <a:tc>
                  <a:txBody>
                    <a:bodyPr/>
                    <a:lstStyle/>
                    <a:p>
                      <a:r>
                        <a:rPr lang="en-US" dirty="0">
                          <a:solidFill>
                            <a:srgbClr val="FF0000"/>
                          </a:solidFill>
                        </a:rPr>
                        <a:t>Yes</a:t>
                      </a:r>
                      <a:endParaRPr lang="en-150" dirty="0">
                        <a:solidFill>
                          <a:srgbClr val="FF0000"/>
                        </a:solidFill>
                      </a:endParaRPr>
                    </a:p>
                  </a:txBody>
                  <a:tcPr/>
                </a:tc>
                <a:extLst>
                  <a:ext uri="{0D108BD9-81ED-4DB2-BD59-A6C34878D82A}">
                    <a16:rowId xmlns:a16="http://schemas.microsoft.com/office/drawing/2014/main" val="2632117991"/>
                  </a:ext>
                </a:extLst>
              </a:tr>
            </a:tbl>
          </a:graphicData>
        </a:graphic>
      </p:graphicFrame>
    </p:spTree>
    <p:extLst>
      <p:ext uri="{BB962C8B-B14F-4D97-AF65-F5344CB8AC3E}">
        <p14:creationId xmlns:p14="http://schemas.microsoft.com/office/powerpoint/2010/main" val="3011311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6F46-AF70-47EF-B031-BA913336EC97}"/>
              </a:ext>
            </a:extLst>
          </p:cNvPr>
          <p:cNvSpPr>
            <a:spLocks noGrp="1"/>
          </p:cNvSpPr>
          <p:nvPr>
            <p:ph type="title"/>
          </p:nvPr>
        </p:nvSpPr>
        <p:spPr/>
        <p:txBody>
          <a:bodyPr/>
          <a:lstStyle/>
          <a:p>
            <a:r>
              <a:rPr lang="et-EE" dirty="0"/>
              <a:t>Step 4: Parse question and query DB</a:t>
            </a:r>
            <a:r>
              <a:rPr lang="en-US" dirty="0"/>
              <a:t> </a:t>
            </a:r>
            <a:r>
              <a:rPr lang="en-US" sz="2000" dirty="0"/>
              <a:t>Example 3 - Rules</a:t>
            </a:r>
            <a:endParaRPr lang="en-150" sz="2000" dirty="0"/>
          </a:p>
        </p:txBody>
      </p:sp>
      <p:graphicFrame>
        <p:nvGraphicFramePr>
          <p:cNvPr id="4" name="Content Placeholder 7">
            <a:extLst>
              <a:ext uri="{FF2B5EF4-FFF2-40B4-BE49-F238E27FC236}">
                <a16:creationId xmlns:a16="http://schemas.microsoft.com/office/drawing/2014/main" id="{5744E173-BDD5-4391-AE29-2AAB462FF1D8}"/>
              </a:ext>
            </a:extLst>
          </p:cNvPr>
          <p:cNvGraphicFramePr>
            <a:graphicFrameLocks/>
          </p:cNvGraphicFramePr>
          <p:nvPr>
            <p:extLst>
              <p:ext uri="{D42A27DB-BD31-4B8C-83A1-F6EECF244321}">
                <p14:modId xmlns:p14="http://schemas.microsoft.com/office/powerpoint/2010/main" val="2308391113"/>
              </p:ext>
            </p:extLst>
          </p:nvPr>
        </p:nvGraphicFramePr>
        <p:xfrm>
          <a:off x="677690" y="1768703"/>
          <a:ext cx="8596312" cy="4846320"/>
        </p:xfrm>
        <a:graphic>
          <a:graphicData uri="http://schemas.openxmlformats.org/drawingml/2006/table">
            <a:tbl>
              <a:tblPr firstRow="1" bandRow="1">
                <a:tableStyleId>{3B4B98B0-60AC-42C2-AFA5-B58CD77FA1E5}</a:tableStyleId>
              </a:tblPr>
              <a:tblGrid>
                <a:gridCol w="1934708">
                  <a:extLst>
                    <a:ext uri="{9D8B030D-6E8A-4147-A177-3AD203B41FA5}">
                      <a16:colId xmlns:a16="http://schemas.microsoft.com/office/drawing/2014/main" val="2713798710"/>
                    </a:ext>
                  </a:extLst>
                </a:gridCol>
                <a:gridCol w="6661604">
                  <a:extLst>
                    <a:ext uri="{9D8B030D-6E8A-4147-A177-3AD203B41FA5}">
                      <a16:colId xmlns:a16="http://schemas.microsoft.com/office/drawing/2014/main" val="3780685036"/>
                    </a:ext>
                  </a:extLst>
                </a:gridCol>
              </a:tblGrid>
              <a:tr h="370840">
                <a:tc>
                  <a:txBody>
                    <a:bodyPr/>
                    <a:lstStyle/>
                    <a:p>
                      <a:r>
                        <a:rPr lang="en-US" b="0" dirty="0"/>
                        <a:t>Context:</a:t>
                      </a:r>
                    </a:p>
                    <a:p>
                      <a:endParaRPr lang="en-US" dirty="0"/>
                    </a:p>
                    <a:p>
                      <a:r>
                        <a:rPr lang="en-US" b="0" dirty="0"/>
                        <a:t>Parsed facts:</a:t>
                      </a:r>
                    </a:p>
                    <a:p>
                      <a:endParaRPr lang="en-US" b="0" dirty="0"/>
                    </a:p>
                    <a:p>
                      <a:r>
                        <a:rPr lang="en-US" b="0" dirty="0"/>
                        <a:t>Parsed rules:</a:t>
                      </a:r>
                      <a:endParaRPr lang="en-150" b="0" dirty="0"/>
                    </a:p>
                  </a:txBody>
                  <a:tcPr>
                    <a:solidFill>
                      <a:schemeClr val="accent2">
                        <a:lumMod val="40000"/>
                        <a:lumOff val="60000"/>
                      </a:schemeClr>
                    </a:solidFill>
                  </a:tcPr>
                </a:tc>
                <a:tc>
                  <a:txBody>
                    <a:bodyPr/>
                    <a:lstStyle/>
                    <a:p>
                      <a:r>
                        <a:rPr lang="en-US" sz="1800" b="0" kern="1200" dirty="0">
                          <a:solidFill>
                            <a:schemeClr val="tx1"/>
                          </a:solidFill>
                          <a:latin typeface="+mn-lt"/>
                          <a:ea typeface="+mn-ea"/>
                          <a:cs typeface="+mn-cs"/>
                        </a:rPr>
                        <a:t>Tom is a cat. All cats are cool and nice.</a:t>
                      </a:r>
                    </a:p>
                    <a:p>
                      <a:endParaRPr lang="en-US" sz="1800" b="0" kern="1200" dirty="0">
                        <a:solidFill>
                          <a:schemeClr val="tx1"/>
                        </a:solidFill>
                        <a:latin typeface="+mn-lt"/>
                        <a:ea typeface="+mn-ea"/>
                        <a:cs typeface="+mn-cs"/>
                      </a:endParaRPr>
                    </a:p>
                    <a:p>
                      <a:r>
                        <a:rPr lang="en-US" b="0" dirty="0">
                          <a:solidFill>
                            <a:srgbClr val="FF0000"/>
                          </a:solidFill>
                        </a:rPr>
                        <a:t>cat(tom)</a:t>
                      </a:r>
                    </a:p>
                    <a:p>
                      <a:endParaRPr lang="en-US" b="0" dirty="0">
                        <a:solidFill>
                          <a:srgbClr val="FF0000"/>
                        </a:solidFill>
                      </a:endParaRPr>
                    </a:p>
                    <a:p>
                      <a:r>
                        <a:rPr lang="en-US" b="0" dirty="0">
                          <a:solidFill>
                            <a:srgbClr val="FF0000"/>
                          </a:solidFill>
                        </a:rPr>
                        <a:t>cool(X):-cat(X)</a:t>
                      </a:r>
                    </a:p>
                    <a:p>
                      <a:r>
                        <a:rPr lang="en-US" b="0" dirty="0">
                          <a:solidFill>
                            <a:srgbClr val="FF0000"/>
                          </a:solidFill>
                        </a:rPr>
                        <a:t>nice(X):-cat(X)</a:t>
                      </a:r>
                      <a:endParaRPr lang="en-150" b="0" dirty="0">
                        <a:solidFill>
                          <a:srgbClr val="FF0000"/>
                        </a:solidFill>
                      </a:endParaRPr>
                    </a:p>
                  </a:txBody>
                  <a:tcPr>
                    <a:solidFill>
                      <a:schemeClr val="accent2">
                        <a:lumMod val="40000"/>
                        <a:lumOff val="60000"/>
                      </a:schemeClr>
                    </a:solidFill>
                  </a:tcPr>
                </a:tc>
                <a:extLst>
                  <a:ext uri="{0D108BD9-81ED-4DB2-BD59-A6C34878D82A}">
                    <a16:rowId xmlns:a16="http://schemas.microsoft.com/office/drawing/2014/main" val="2899325159"/>
                  </a:ext>
                </a:extLst>
              </a:tr>
              <a:tr h="370840">
                <a:tc>
                  <a:txBody>
                    <a:bodyPr/>
                    <a:lstStyle/>
                    <a:p>
                      <a:r>
                        <a:rPr lang="en-US" dirty="0"/>
                        <a:t>Input question:</a:t>
                      </a:r>
                    </a:p>
                    <a:p>
                      <a:endParaRPr lang="en-US" dirty="0"/>
                    </a:p>
                    <a:p>
                      <a:r>
                        <a:rPr lang="en-US" dirty="0"/>
                        <a:t>Parsed question:</a:t>
                      </a:r>
                      <a:endParaRPr lang="en-150" dirty="0"/>
                    </a:p>
                  </a:txBody>
                  <a:tcPr/>
                </a:tc>
                <a:tc>
                  <a:txBody>
                    <a:bodyPr/>
                    <a:lstStyle/>
                    <a:p>
                      <a:r>
                        <a:rPr lang="en-US" dirty="0"/>
                        <a:t>Tom is cool?</a:t>
                      </a:r>
                    </a:p>
                    <a:p>
                      <a:endParaRPr lang="en-US" dirty="0"/>
                    </a:p>
                    <a:p>
                      <a:r>
                        <a:rPr lang="en-GB" dirty="0">
                          <a:solidFill>
                            <a:srgbClr val="FF0000"/>
                          </a:solidFill>
                        </a:rPr>
                        <a:t>cool(tom)</a:t>
                      </a:r>
                      <a:endParaRPr lang="en-150" dirty="0">
                        <a:solidFill>
                          <a:srgbClr val="FF0000"/>
                        </a:solidFill>
                      </a:endParaRPr>
                    </a:p>
                  </a:txBody>
                  <a:tcPr/>
                </a:tc>
                <a:extLst>
                  <a:ext uri="{0D108BD9-81ED-4DB2-BD59-A6C34878D82A}">
                    <a16:rowId xmlns:a16="http://schemas.microsoft.com/office/drawing/2014/main" val="798591526"/>
                  </a:ext>
                </a:extLst>
              </a:tr>
              <a:tr h="370840">
                <a:tc>
                  <a:txBody>
                    <a:bodyPr/>
                    <a:lstStyle/>
                    <a:p>
                      <a:r>
                        <a:rPr lang="en-US" dirty="0"/>
                        <a:t>Response:</a:t>
                      </a:r>
                      <a:endParaRPr lang="en-150" dirty="0"/>
                    </a:p>
                  </a:txBody>
                  <a:tcPr/>
                </a:tc>
                <a:tc>
                  <a:txBody>
                    <a:bodyPr/>
                    <a:lstStyle/>
                    <a:p>
                      <a:r>
                        <a:rPr lang="en-US" dirty="0">
                          <a:solidFill>
                            <a:srgbClr val="FF0000"/>
                          </a:solidFill>
                        </a:rPr>
                        <a:t>Yes</a:t>
                      </a:r>
                    </a:p>
                    <a:p>
                      <a:endParaRPr lang="en-150" dirty="0"/>
                    </a:p>
                  </a:txBody>
                  <a:tcPr/>
                </a:tc>
                <a:extLst>
                  <a:ext uri="{0D108BD9-81ED-4DB2-BD59-A6C34878D82A}">
                    <a16:rowId xmlns:a16="http://schemas.microsoft.com/office/drawing/2014/main" val="129273737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Input question 2:</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Parsed question:</a:t>
                      </a:r>
                      <a:endParaRPr lang="en-150" dirty="0"/>
                    </a:p>
                  </a:txBody>
                  <a:tcPr/>
                </a:tc>
                <a:tc>
                  <a:txBody>
                    <a:bodyPr/>
                    <a:lstStyle/>
                    <a:p>
                      <a:r>
                        <a:rPr lang="en-US" dirty="0"/>
                        <a:t>Tom is cat?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r>
                        <a:rPr lang="en-GB" dirty="0">
                          <a:solidFill>
                            <a:srgbClr val="FF0000"/>
                          </a:solidFill>
                        </a:rPr>
                        <a:t>cat(tom)</a:t>
                      </a:r>
                      <a:endParaRPr lang="en-150" dirty="0">
                        <a:solidFill>
                          <a:srgbClr val="FF0000"/>
                        </a:solidFill>
                      </a:endParaRPr>
                    </a:p>
                  </a:txBody>
                  <a:tcPr/>
                </a:tc>
                <a:extLst>
                  <a:ext uri="{0D108BD9-81ED-4DB2-BD59-A6C34878D82A}">
                    <a16:rowId xmlns:a16="http://schemas.microsoft.com/office/drawing/2014/main" val="2535639622"/>
                  </a:ext>
                </a:extLst>
              </a:tr>
              <a:tr h="370840">
                <a:tc>
                  <a:txBody>
                    <a:bodyPr/>
                    <a:lstStyle/>
                    <a:p>
                      <a:r>
                        <a:rPr lang="en-US" dirty="0"/>
                        <a:t>Response:</a:t>
                      </a:r>
                    </a:p>
                    <a:p>
                      <a:endParaRPr lang="en-150" dirty="0"/>
                    </a:p>
                  </a:txBody>
                  <a:tcPr/>
                </a:tc>
                <a:tc>
                  <a:txBody>
                    <a:bodyPr/>
                    <a:lstStyle/>
                    <a:p>
                      <a:r>
                        <a:rPr lang="en-US" dirty="0">
                          <a:solidFill>
                            <a:srgbClr val="FF0000"/>
                          </a:solidFill>
                        </a:rPr>
                        <a:t>Yes</a:t>
                      </a:r>
                      <a:endParaRPr lang="en-150" dirty="0">
                        <a:solidFill>
                          <a:srgbClr val="FF0000"/>
                        </a:solidFill>
                      </a:endParaRPr>
                    </a:p>
                  </a:txBody>
                  <a:tcPr/>
                </a:tc>
                <a:extLst>
                  <a:ext uri="{0D108BD9-81ED-4DB2-BD59-A6C34878D82A}">
                    <a16:rowId xmlns:a16="http://schemas.microsoft.com/office/drawing/2014/main" val="2632117991"/>
                  </a:ext>
                </a:extLst>
              </a:tr>
            </a:tbl>
          </a:graphicData>
        </a:graphic>
      </p:graphicFrame>
    </p:spTree>
    <p:extLst>
      <p:ext uri="{BB962C8B-B14F-4D97-AF65-F5344CB8AC3E}">
        <p14:creationId xmlns:p14="http://schemas.microsoft.com/office/powerpoint/2010/main" val="195814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6F46-AF70-47EF-B031-BA913336EC97}"/>
              </a:ext>
            </a:extLst>
          </p:cNvPr>
          <p:cNvSpPr>
            <a:spLocks noGrp="1"/>
          </p:cNvSpPr>
          <p:nvPr>
            <p:ph type="title"/>
          </p:nvPr>
        </p:nvSpPr>
        <p:spPr>
          <a:xfrm>
            <a:off x="677334" y="609600"/>
            <a:ext cx="8596668" cy="1320800"/>
          </a:xfrm>
        </p:spPr>
        <p:txBody>
          <a:bodyPr/>
          <a:lstStyle/>
          <a:p>
            <a:r>
              <a:rPr lang="et-EE" dirty="0"/>
              <a:t>Step 4: Parse question and query DB</a:t>
            </a:r>
            <a:r>
              <a:rPr lang="en-US" dirty="0"/>
              <a:t> </a:t>
            </a:r>
            <a:r>
              <a:rPr lang="en-US" sz="2000" dirty="0"/>
              <a:t>Example 4 - Similarity</a:t>
            </a:r>
            <a:endParaRPr lang="en-150" sz="2000" dirty="0"/>
          </a:p>
        </p:txBody>
      </p:sp>
      <p:graphicFrame>
        <p:nvGraphicFramePr>
          <p:cNvPr id="4" name="Content Placeholder 7">
            <a:extLst>
              <a:ext uri="{FF2B5EF4-FFF2-40B4-BE49-F238E27FC236}">
                <a16:creationId xmlns:a16="http://schemas.microsoft.com/office/drawing/2014/main" id="{5744E173-BDD5-4391-AE29-2AAB462FF1D8}"/>
              </a:ext>
            </a:extLst>
          </p:cNvPr>
          <p:cNvGraphicFramePr>
            <a:graphicFrameLocks/>
          </p:cNvGraphicFramePr>
          <p:nvPr>
            <p:extLst>
              <p:ext uri="{D42A27DB-BD31-4B8C-83A1-F6EECF244321}">
                <p14:modId xmlns:p14="http://schemas.microsoft.com/office/powerpoint/2010/main" val="949906983"/>
              </p:ext>
            </p:extLst>
          </p:nvPr>
        </p:nvGraphicFramePr>
        <p:xfrm>
          <a:off x="677334" y="1509011"/>
          <a:ext cx="8596312" cy="5348989"/>
        </p:xfrm>
        <a:graphic>
          <a:graphicData uri="http://schemas.openxmlformats.org/drawingml/2006/table">
            <a:tbl>
              <a:tblPr firstRow="1" bandRow="1">
                <a:tableStyleId>{3B4B98B0-60AC-42C2-AFA5-B58CD77FA1E5}</a:tableStyleId>
              </a:tblPr>
              <a:tblGrid>
                <a:gridCol w="1934708">
                  <a:extLst>
                    <a:ext uri="{9D8B030D-6E8A-4147-A177-3AD203B41FA5}">
                      <a16:colId xmlns:a16="http://schemas.microsoft.com/office/drawing/2014/main" val="2713798710"/>
                    </a:ext>
                  </a:extLst>
                </a:gridCol>
                <a:gridCol w="6661604">
                  <a:extLst>
                    <a:ext uri="{9D8B030D-6E8A-4147-A177-3AD203B41FA5}">
                      <a16:colId xmlns:a16="http://schemas.microsoft.com/office/drawing/2014/main" val="3780685036"/>
                    </a:ext>
                  </a:extLst>
                </a:gridCol>
              </a:tblGrid>
              <a:tr h="1173229">
                <a:tc>
                  <a:txBody>
                    <a:bodyPr/>
                    <a:lstStyle/>
                    <a:p>
                      <a:r>
                        <a:rPr lang="en-US" b="0" dirty="0"/>
                        <a:t>Context:</a:t>
                      </a:r>
                      <a:endParaRPr lang="en-US" dirty="0"/>
                    </a:p>
                    <a:p>
                      <a:endParaRPr lang="en-US" dirty="0"/>
                    </a:p>
                    <a:p>
                      <a:r>
                        <a:rPr lang="en-US" b="0" dirty="0"/>
                        <a:t>Parsed facts:</a:t>
                      </a:r>
                    </a:p>
                  </a:txBody>
                  <a:tcPr>
                    <a:solidFill>
                      <a:schemeClr val="accent2">
                        <a:lumMod val="40000"/>
                        <a:lumOff val="60000"/>
                      </a:schemeClr>
                    </a:solidFill>
                  </a:tcPr>
                </a:tc>
                <a:tc>
                  <a:txBody>
                    <a:bodyPr/>
                    <a:lstStyle/>
                    <a:p>
                      <a:r>
                        <a:rPr lang="en-US" sz="1800" b="0" kern="1200" dirty="0">
                          <a:solidFill>
                            <a:schemeClr val="tx1"/>
                          </a:solidFill>
                          <a:latin typeface="+mn-lt"/>
                          <a:ea typeface="+mn-ea"/>
                          <a:cs typeface="+mn-cs"/>
                        </a:rPr>
                        <a:t>Andrew is very smart.</a:t>
                      </a:r>
                    </a:p>
                    <a:p>
                      <a:endParaRPr lang="en-US" sz="1800" b="0" kern="1200" dirty="0">
                        <a:solidFill>
                          <a:schemeClr val="tx1"/>
                        </a:solidFill>
                        <a:latin typeface="+mn-lt"/>
                        <a:ea typeface="+mn-ea"/>
                        <a:cs typeface="+mn-cs"/>
                      </a:endParaRPr>
                    </a:p>
                    <a:p>
                      <a:r>
                        <a:rPr lang="en-US" b="0" dirty="0">
                          <a:solidFill>
                            <a:srgbClr val="FF0000"/>
                          </a:solidFill>
                        </a:rPr>
                        <a:t>smart(</a:t>
                      </a:r>
                      <a:r>
                        <a:rPr lang="en-US" b="0" dirty="0" err="1">
                          <a:solidFill>
                            <a:srgbClr val="FF0000"/>
                          </a:solidFill>
                        </a:rPr>
                        <a:t>andrew</a:t>
                      </a:r>
                      <a:r>
                        <a:rPr lang="en-US" b="0" dirty="0">
                          <a:solidFill>
                            <a:srgbClr val="FF0000"/>
                          </a:solidFill>
                        </a:rPr>
                        <a:t>)</a:t>
                      </a:r>
                    </a:p>
                  </a:txBody>
                  <a:tcPr>
                    <a:solidFill>
                      <a:schemeClr val="accent2">
                        <a:lumMod val="40000"/>
                        <a:lumOff val="60000"/>
                      </a:schemeClr>
                    </a:solidFill>
                  </a:tcPr>
                </a:tc>
                <a:extLst>
                  <a:ext uri="{0D108BD9-81ED-4DB2-BD59-A6C34878D82A}">
                    <a16:rowId xmlns:a16="http://schemas.microsoft.com/office/drawing/2014/main" val="2899325159"/>
                  </a:ext>
                </a:extLst>
              </a:tr>
              <a:tr h="3489604">
                <a:tc>
                  <a:txBody>
                    <a:bodyPr/>
                    <a:lstStyle/>
                    <a:p>
                      <a:r>
                        <a:rPr lang="en-US" dirty="0"/>
                        <a:t>Input question:</a:t>
                      </a:r>
                    </a:p>
                    <a:p>
                      <a:endParaRPr lang="en-US" dirty="0"/>
                    </a:p>
                    <a:p>
                      <a:r>
                        <a:rPr lang="en-US" dirty="0"/>
                        <a:t>Parsed question:</a:t>
                      </a:r>
                    </a:p>
                    <a:p>
                      <a:endParaRPr lang="en-US" dirty="0"/>
                    </a:p>
                    <a:p>
                      <a:r>
                        <a:rPr lang="en-US" sz="1400" dirty="0"/>
                        <a:t>Comparing with all facts in DB and picking most highest vector:</a:t>
                      </a:r>
                      <a:endParaRPr lang="en-150" sz="1400" dirty="0"/>
                    </a:p>
                  </a:txBody>
                  <a:tcPr/>
                </a:tc>
                <a:tc>
                  <a:txBody>
                    <a:bodyPr/>
                    <a:lstStyle/>
                    <a:p>
                      <a:r>
                        <a:rPr lang="en-US" dirty="0"/>
                        <a:t>Andrew is clever?</a:t>
                      </a:r>
                    </a:p>
                    <a:p>
                      <a:endParaRPr lang="en-US" dirty="0"/>
                    </a:p>
                    <a:p>
                      <a:r>
                        <a:rPr lang="en-GB" dirty="0">
                          <a:solidFill>
                            <a:srgbClr val="FF0000"/>
                          </a:solidFill>
                        </a:rPr>
                        <a:t>clever(</a:t>
                      </a:r>
                      <a:r>
                        <a:rPr lang="en-GB" dirty="0" err="1">
                          <a:solidFill>
                            <a:srgbClr val="FF0000"/>
                          </a:solidFill>
                        </a:rPr>
                        <a:t>andrew</a:t>
                      </a:r>
                      <a:r>
                        <a:rPr lang="en-GB" dirty="0">
                          <a:solidFill>
                            <a:srgbClr val="FF0000"/>
                          </a:solidFill>
                        </a:rPr>
                        <a:t>) -&gt; no such fact in DB</a:t>
                      </a:r>
                    </a:p>
                    <a:p>
                      <a:endParaRPr lang="en-GB" dirty="0">
                        <a:solidFill>
                          <a:srgbClr val="FF0000"/>
                        </a:solidFill>
                      </a:endParaRPr>
                    </a:p>
                    <a:p>
                      <a:r>
                        <a:rPr lang="en-GB" sz="1400" b="0" dirty="0">
                          <a:solidFill>
                            <a:srgbClr val="FF0000"/>
                          </a:solidFill>
                        </a:rPr>
                        <a:t>['smart', 0.6583483]</a:t>
                      </a:r>
                    </a:p>
                    <a:p>
                      <a:r>
                        <a:rPr lang="en-GB" sz="1400" b="0" dirty="0">
                          <a:solidFill>
                            <a:schemeClr val="tx1"/>
                          </a:solidFill>
                        </a:rPr>
                        <a:t>['cool', 0.52724916]</a:t>
                      </a:r>
                    </a:p>
                    <a:p>
                      <a:r>
                        <a:rPr lang="en-GB" sz="1400" b="0" dirty="0">
                          <a:solidFill>
                            <a:schemeClr val="tx1"/>
                          </a:solidFill>
                        </a:rPr>
                        <a:t>['nice', 0.470275]</a:t>
                      </a:r>
                    </a:p>
                    <a:p>
                      <a:r>
                        <a:rPr lang="en-GB" sz="1400" b="0" dirty="0">
                          <a:solidFill>
                            <a:schemeClr val="tx1"/>
                          </a:solidFill>
                        </a:rPr>
                        <a:t>['man', 0.36560482]</a:t>
                      </a:r>
                    </a:p>
                    <a:p>
                      <a:r>
                        <a:rPr lang="en-GB" sz="1400" b="0" dirty="0">
                          <a:solidFill>
                            <a:schemeClr val="tx1"/>
                          </a:solidFill>
                        </a:rPr>
                        <a:t>['cat', 0.31320047]</a:t>
                      </a:r>
                    </a:p>
                    <a:p>
                      <a:r>
                        <a:rPr lang="en-GB" sz="1400" b="0" dirty="0">
                          <a:solidFill>
                            <a:schemeClr val="tx1"/>
                          </a:solidFill>
                        </a:rPr>
                        <a:t>['was', 0.29308003]</a:t>
                      </a:r>
                    </a:p>
                    <a:p>
                      <a:r>
                        <a:rPr lang="en-GB" sz="1400" b="0" dirty="0">
                          <a:solidFill>
                            <a:schemeClr val="tx1"/>
                          </a:solidFill>
                        </a:rPr>
                        <a:t>['father', 0.2418779]</a:t>
                      </a:r>
                    </a:p>
                    <a:p>
                      <a:r>
                        <a:rPr lang="en-GB" sz="1400" b="0" dirty="0">
                          <a:solidFill>
                            <a:schemeClr val="tx1"/>
                          </a:solidFill>
                        </a:rPr>
                        <a:t>['standing', 0.19606651]</a:t>
                      </a:r>
                    </a:p>
                    <a:p>
                      <a:r>
                        <a:rPr lang="en-GB" sz="1400" b="0" dirty="0">
                          <a:solidFill>
                            <a:schemeClr val="tx1"/>
                          </a:solidFill>
                        </a:rPr>
                        <a:t>['named', 0.18136796]</a:t>
                      </a:r>
                    </a:p>
                    <a:p>
                      <a:r>
                        <a:rPr lang="en-GB" sz="1400" b="0" dirty="0">
                          <a:solidFill>
                            <a:schemeClr val="tx1"/>
                          </a:solidFill>
                        </a:rPr>
                        <a:t>['island', 0.1667933]</a:t>
                      </a:r>
                    </a:p>
                    <a:p>
                      <a:r>
                        <a:rPr lang="en-GB" sz="1400" b="0" dirty="0">
                          <a:solidFill>
                            <a:schemeClr val="tx1"/>
                          </a:solidFill>
                        </a:rPr>
                        <a:t>['city', 0.16660081]</a:t>
                      </a:r>
                    </a:p>
                  </a:txBody>
                  <a:tcPr/>
                </a:tc>
                <a:extLst>
                  <a:ext uri="{0D108BD9-81ED-4DB2-BD59-A6C34878D82A}">
                    <a16:rowId xmlns:a16="http://schemas.microsoft.com/office/drawing/2014/main" val="798591526"/>
                  </a:ext>
                </a:extLst>
              </a:tr>
              <a:tr h="631739">
                <a:tc>
                  <a:txBody>
                    <a:bodyPr/>
                    <a:lstStyle/>
                    <a:p>
                      <a:r>
                        <a:rPr lang="en-US" dirty="0"/>
                        <a:t>Response:</a:t>
                      </a:r>
                      <a:endParaRPr lang="en-150" dirty="0"/>
                    </a:p>
                  </a:txBody>
                  <a:tcPr/>
                </a:tc>
                <a:tc>
                  <a:txBody>
                    <a:bodyPr/>
                    <a:lstStyle/>
                    <a:p>
                      <a:r>
                        <a:rPr lang="en-US" dirty="0">
                          <a:solidFill>
                            <a:srgbClr val="FF0000"/>
                          </a:solidFill>
                        </a:rPr>
                        <a:t>Did you mean: Is </a:t>
                      </a:r>
                      <a:r>
                        <a:rPr lang="en-US" dirty="0" err="1">
                          <a:solidFill>
                            <a:srgbClr val="FF0000"/>
                          </a:solidFill>
                        </a:rPr>
                        <a:t>andrew</a:t>
                      </a:r>
                      <a:r>
                        <a:rPr lang="en-US" dirty="0">
                          <a:solidFill>
                            <a:srgbClr val="FF0000"/>
                          </a:solidFill>
                        </a:rPr>
                        <a:t> is smart?</a:t>
                      </a:r>
                    </a:p>
                    <a:p>
                      <a:r>
                        <a:rPr lang="en-US" dirty="0">
                          <a:solidFill>
                            <a:srgbClr val="FF0000"/>
                          </a:solidFill>
                        </a:rPr>
                        <a:t>Yes</a:t>
                      </a:r>
                      <a:endParaRPr lang="en-150" dirty="0"/>
                    </a:p>
                  </a:txBody>
                  <a:tcPr/>
                </a:tc>
                <a:extLst>
                  <a:ext uri="{0D108BD9-81ED-4DB2-BD59-A6C34878D82A}">
                    <a16:rowId xmlns:a16="http://schemas.microsoft.com/office/drawing/2014/main" val="1292737378"/>
                  </a:ext>
                </a:extLst>
              </a:tr>
            </a:tbl>
          </a:graphicData>
        </a:graphic>
      </p:graphicFrame>
    </p:spTree>
    <p:extLst>
      <p:ext uri="{BB962C8B-B14F-4D97-AF65-F5344CB8AC3E}">
        <p14:creationId xmlns:p14="http://schemas.microsoft.com/office/powerpoint/2010/main" val="2234464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B03C5-2841-47FC-8CB2-3D152E61B146}"/>
              </a:ext>
            </a:extLst>
          </p:cNvPr>
          <p:cNvSpPr>
            <a:spLocks noGrp="1"/>
          </p:cNvSpPr>
          <p:nvPr>
            <p:ph type="title"/>
          </p:nvPr>
        </p:nvSpPr>
        <p:spPr>
          <a:xfrm>
            <a:off x="677334" y="2183363"/>
            <a:ext cx="8596668" cy="2341983"/>
          </a:xfrm>
        </p:spPr>
        <p:txBody>
          <a:bodyPr/>
          <a:lstStyle/>
          <a:p>
            <a:pPr algn="ctr"/>
            <a:r>
              <a:rPr lang="en-US" dirty="0"/>
              <a:t>Thank you</a:t>
            </a:r>
            <a:endParaRPr lang="en-150" dirty="0"/>
          </a:p>
        </p:txBody>
      </p:sp>
    </p:spTree>
    <p:extLst>
      <p:ext uri="{BB962C8B-B14F-4D97-AF65-F5344CB8AC3E}">
        <p14:creationId xmlns:p14="http://schemas.microsoft.com/office/powerpoint/2010/main" val="78256232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875</TotalTime>
  <Words>722</Words>
  <Application>Microsoft Office PowerPoint</Application>
  <PresentationFormat>Widescreen</PresentationFormat>
  <Paragraphs>160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Trebuchet MS</vt:lpstr>
      <vt:lpstr>Wingdings 3</vt:lpstr>
      <vt:lpstr>Facet</vt:lpstr>
      <vt:lpstr>Teadmiste formaliseerimine  Lab 2</vt:lpstr>
      <vt:lpstr>Tools and initial text</vt:lpstr>
      <vt:lpstr>Step 1: Co-reference parsing</vt:lpstr>
      <vt:lpstr>Step 2: Extract knowledge</vt:lpstr>
      <vt:lpstr>Step 3: Generate knowledge DB in Prolog format</vt:lpstr>
      <vt:lpstr>Step 4: Parse question and query DB Example 1 - Simple</vt:lpstr>
      <vt:lpstr>Step 4: Parse question and query DB Example 2 – Complex</vt:lpstr>
      <vt:lpstr>Step 4: Parse question and query DB Example 3 - Rules</vt:lpstr>
      <vt:lpstr>Step 4: Parse question and query DB Example 4 - Similarity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Teadmiste formaliseerimine  Lab 2</dc:title>
  <dc:creator>Malyshev, Sergei / Kuehne + Nagel / TLL GI-AO</dc:creator>
  <cp:lastModifiedBy>Malyshev, Sergei / Kuehne + Nagel / TLL GI-AO</cp:lastModifiedBy>
  <cp:revision>20</cp:revision>
  <dcterms:created xsi:type="dcterms:W3CDTF">2019-05-06T17:16:18Z</dcterms:created>
  <dcterms:modified xsi:type="dcterms:W3CDTF">2019-05-07T08:26:03Z</dcterms:modified>
</cp:coreProperties>
</file>